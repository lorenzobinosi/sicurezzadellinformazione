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Exo 2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Exo2-bold.fntdata"/><Relationship Id="rId52" Type="http://schemas.openxmlformats.org/officeDocument/2006/relationships/font" Target="fonts/Exo2-regular.fntdata"/><Relationship Id="rId11" Type="http://schemas.openxmlformats.org/officeDocument/2006/relationships/slide" Target="slides/slide6.xml"/><Relationship Id="rId55" Type="http://schemas.openxmlformats.org/officeDocument/2006/relationships/font" Target="fonts/Exo2-boldItalic.fntdata"/><Relationship Id="rId10" Type="http://schemas.openxmlformats.org/officeDocument/2006/relationships/slide" Target="slides/slide5.xml"/><Relationship Id="rId54" Type="http://schemas.openxmlformats.org/officeDocument/2006/relationships/font" Target="fonts/Exo2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08a3595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08a359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c82d833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c82d83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bc82d8330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bc82d833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bc82d8330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bc82d83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bc82d8330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bc82d833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c82d8330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c82d833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c82d8330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c82d833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c82d8330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c82d833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c82d8330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c82d833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c82d8330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c82d83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c82d8330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c82d833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c82d8330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c82d833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c82d8330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c82d833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c82d8330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bc82d833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c82d8330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bc82d833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c82d8330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c82d833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c82d8330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bc82d833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c82d8330_0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c82d833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c82d8330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bc82d833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c82d8330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c82d833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c82d8330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c82d833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c82d8330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bc82d833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bc82d8330_0_1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bc82d833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c82d8330_0_1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bc82d833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bc82d8330_0_1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bc82d833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c82d8330_0_1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c82d833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c82d8330_0_1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c82d833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bc82d8330_0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bc82d833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bc82d8330_0_1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bc82d833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bc82d8330_0_2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bc82d833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bc82d8330_0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bc82d8330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bc82d8330_0_2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bc82d833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bc82d8330_0_2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bc82d833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bc82d8330_0_2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bc82d8330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bc82d8330_0_2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bc82d833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bc82d8330_0_2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bc82d833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bc82d8330_0_2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bc82d833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bc82d8330_0_2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bc82d833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bc82d8330_0_2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bc82d833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bc82d8330_0_29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bc82d833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bc82d8330_0_2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bc82d833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Exo 2"/>
              <a:buNone/>
              <a:defRPr b="1" sz="3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v1-jNkzBx_M" TargetMode="External"/><Relationship Id="rId4" Type="http://schemas.openxmlformats.org/officeDocument/2006/relationships/hyperlink" Target="https://youtu.be/966O0sXubxw" TargetMode="External"/><Relationship Id="rId5" Type="http://schemas.openxmlformats.org/officeDocument/2006/relationships/hyperlink" Target="https://www.youtube.com/watch?v=gN7JKHOVnJ0" TargetMode="External"/><Relationship Id="rId6" Type="http://schemas.openxmlformats.org/officeDocument/2006/relationships/hyperlink" Target="https://youtu.be/LSgk7ctw1HY?t=5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icir.org/vern/papers/cdc-usenix-sec02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cseweb.ucsd.edu/~voelker/pubs/eaas-ccs12.pdf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staff.washington.edu/dittrich/misc/trinoo.analysi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9. Malicious Software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Sicurezza dell’Informazione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malware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36625"/>
            <a:ext cx="8520600" cy="5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</a:t>
            </a:r>
            <a:r>
              <a:rPr b="1" lang="it"/>
              <a:t>portmanteau</a:t>
            </a:r>
            <a:r>
              <a:rPr lang="it"/>
              <a:t> (fusione) di “</a:t>
            </a:r>
            <a:r>
              <a:rPr b="1" lang="it"/>
              <a:t>MALicious softWARE</a:t>
            </a:r>
            <a:r>
              <a:rPr lang="it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Significato</a:t>
            </a:r>
            <a:r>
              <a:rPr lang="it"/>
              <a:t>: codice scritto intenzionalmente per violare una politica di sicurezza.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Esistono diverse “categorie” o “caratteristiche” in base a come si </a:t>
            </a:r>
            <a:r>
              <a:rPr b="1" lang="it"/>
              <a:t>diffondono/propagano</a:t>
            </a:r>
            <a:r>
              <a:rPr lang="it"/>
              <a:t> e se hanno o meno </a:t>
            </a:r>
            <a:r>
              <a:rPr b="1" lang="it"/>
              <a:t>bisogno dell’intervento umano</a:t>
            </a:r>
            <a:r>
              <a:rPr lang="it"/>
              <a:t>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Virus</a:t>
            </a:r>
            <a:r>
              <a:rPr lang="it"/>
              <a:t>: codice che si auto-propaga infettando eseguibili o altri file (ma anche documenti con macro, boot loader). Non sono programmi autonomi (cioè non sono eseguibili indipendenti). </a:t>
            </a:r>
            <a:r>
              <a:rPr b="1" lang="it"/>
              <a:t>La diffusione avviene localmente.</a:t>
            </a:r>
            <a:endParaRPr b="1"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Worm</a:t>
            </a:r>
            <a:r>
              <a:rPr lang="it"/>
              <a:t>: programmi che si auto-propagano, anche a distanza, spesso sfruttando vulnerabilità dell’host o tramite social engineering (ad esempio, worm diffusi via e-mail). </a:t>
            </a:r>
            <a:r>
              <a:rPr b="1" lang="it"/>
              <a:t>La diffusione è remota.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Trojan horses</a:t>
            </a:r>
            <a:r>
              <a:rPr lang="it"/>
              <a:t>: programmi apparentemente benigni che nascondono una funzionalità malevola e permettono il controllo remoto.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breve storia dei malware... Virus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536624"/>
            <a:ext cx="8520600" cy="49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1971 – </a:t>
            </a:r>
            <a:r>
              <a:rPr b="1" lang="it"/>
              <a:t>Creeper </a:t>
            </a:r>
            <a:r>
              <a:rPr lang="it"/>
              <a:t>è il primo programma auto-replicante su PDP-10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Non era malevolo. Era un esperimento per dimostrare se un programma potesse spostarsi tra diversi computer sulla rete ARPANET.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Creeper utilizzava i protocolli di ARPANET (non il moderno TCP/IP!) per: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Connettersi a un altro PDP-10.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Trasferire una copia di sé stesso.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Visualizzare il messaggio: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È importante notare che Creeper si spostava anziché replicarsi indefinitamente, il che significa che abbandonava il sistema precedente quando si copiavano su uno nuovo — più simile a un “agente mobile” che a un virus.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41676" l="0" r="0" t="28160"/>
          <a:stretch/>
        </p:blipFill>
        <p:spPr>
          <a:xfrm>
            <a:off x="1210023" y="4124175"/>
            <a:ext cx="6723951" cy="120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352"/>
              <a:buFont typeface="Arial"/>
              <a:buNone/>
            </a:pPr>
            <a:r>
              <a:rPr lang="it"/>
              <a:t>Una breve storia dei malware... Virus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536625"/>
            <a:ext cx="8520600" cy="19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50"/>
              <a:t>1981 – </a:t>
            </a:r>
            <a:r>
              <a:rPr b="1" lang="it" sz="1750"/>
              <a:t>Elk Cloner</a:t>
            </a:r>
            <a:r>
              <a:rPr lang="it" sz="1750"/>
              <a:t> è il primo virus a diffondersi ampiamente su Apple II tramite floppy disk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50"/>
              <a:t>Scritto da Richard Skrenta, allora quindicenne.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50"/>
              <a:t>Non era pensato per essere malevolo, ma come uno scherzo rivolto ai compagni di scuola.</a:t>
            </a:r>
            <a:endParaRPr sz="1750"/>
          </a:p>
        </p:txBody>
      </p:sp>
      <p:pic>
        <p:nvPicPr>
          <p:cNvPr id="75" name="Google Shape;75;p16" title="elk-clo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300" y="3799674"/>
            <a:ext cx="3270150" cy="2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3608425"/>
            <a:ext cx="5250600" cy="28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 diffondeva sfruttando i floppy disk di avvio: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Quando un Apple II veniva avviato da un disco infetto,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Elk Cloner si caricava in memoria.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Successivamente infettava qualsiasi altro floppy inserito.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Ogni 50° avvio, mostrava una poesia chiamata “Elk Cloner: The Program with a Personality”.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Teoria dei virus informatici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24"/>
            <a:ext cx="8520600" cy="48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Fred Cohen</a:t>
            </a:r>
            <a:r>
              <a:rPr lang="it"/>
              <a:t> (1983) teorizzò l’esistenza dei virus e produsse i primi esempi di virus informatici.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Da un punto di vista della teoria dell’informatica, rappresentano un concetto interessante di codice auto-modificante e auto-propagante.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Ben presto furono compresi anche le sfide e i limiti della sicurezza.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È impossibile costruire un rilevatore di virus perfetto</a:t>
            </a:r>
            <a:r>
              <a:rPr lang="it"/>
              <a:t> (cioè un rilevatore perfetto della propagazione).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Sia P un programma di rilevamento perfetto.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Possiamo costruire un virus V che risponde in modo contrario a P</a:t>
            </a:r>
            <a:r>
              <a:rPr lang="it"/>
              <a:t>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 P(V) = True → V si arresta (non si propaga) → quindi V non è un virus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 P(V) = False → V si propaga → quindi V è un virus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Ciclo di vita del codice malevolo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536624"/>
            <a:ext cx="8520600" cy="49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Riprodursi, infettare, rimanere nascosto, eseguire il payload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Fase di riproduzione e infezione: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Bilanciare la capacità d’infezione con la possibilità di essere rilevati.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Necessità di identificare un vettore di propagazione adeguato (che può essere social engineering, exploit di vulnerabilità…).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Necessità di infettare file (solo per i virus) e propagarsi ad altre macchine</a:t>
            </a:r>
            <a:r>
              <a:rPr lang="it"/>
              <a:t>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Nota: la maggior parte del malware moderno non si auto-propaga affatto (la maggior parte di bot e trojan non sono worm).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Varietà di tecniche per rimanere nascosti.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Payload: talvolta dannoso… altre volte no, semplicemente fastidioso.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Ping-pong: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https://www.youtube.com/watch?v=v1-jNkzBx_M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Yerg: </a:t>
            </a:r>
            <a:r>
              <a:rPr lang="it" u="sng">
                <a:solidFill>
                  <a:schemeClr val="hlink"/>
                </a:solidFill>
                <a:hlinkClick r:id="rId4"/>
              </a:rPr>
              <a:t>https://youtu.be/966O0sXubxw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Cascade: </a:t>
            </a:r>
            <a:r>
              <a:rPr lang="it" u="sng">
                <a:solidFill>
                  <a:schemeClr val="hlink"/>
                </a:solidFill>
                <a:hlinkClick r:id="rId5"/>
              </a:rPr>
              <a:t>https://www.youtube.com/watch?v=gN7JKHOVnJ0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YAAI: </a:t>
            </a:r>
            <a:r>
              <a:rPr lang="it" u="sng">
                <a:solidFill>
                  <a:schemeClr val="hlink"/>
                </a:solidFill>
                <a:hlinkClick r:id="rId6"/>
              </a:rPr>
              <a:t>https://youtu.be/LSgk7ctw1HY?t=54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infezione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536624"/>
            <a:ext cx="8520600" cy="49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Virus di boot</a:t>
            </a:r>
            <a:endParaRPr b="1"/>
          </a:p>
          <a:p>
            <a:pPr indent="-3663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Infettano il Master Boot Record (MBR) del disco rigido (Hard Disk, SSD) per caricare il malware prima del sistema operativo.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File infector</a:t>
            </a:r>
            <a:r>
              <a:rPr lang="it"/>
              <a:t> (virus che infettano i file)</a:t>
            </a:r>
            <a:endParaRPr/>
          </a:p>
          <a:p>
            <a:pPr indent="-3663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Simple overwrite virus: sovrascrive il programma originale (lo danneggia). Tendenzialmente non utilizzato in quanto ci si accorge che il programma non funziona più.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Parasitic virus:</a:t>
            </a:r>
            <a:endParaRPr/>
          </a:p>
          <a:p>
            <a:pPr indent="-3663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aggiunge codice al file e modifica il punto di ingresso del programma per far eseguire il proprio codice.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(Multi) cavity virus:</a:t>
            </a:r>
            <a:endParaRPr/>
          </a:p>
          <a:p>
            <a:pPr indent="-3663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inietta codice in aree inutilizzate all’interno del file eseguibile.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Una breve storia dei malware... Virus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536627"/>
            <a:ext cx="85206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1987 – Christmas Worm (CHRISTMA EXEC) sui mainframe IB</a:t>
            </a:r>
            <a:r>
              <a:rPr b="1" lang="it"/>
              <a:t>M</a:t>
            </a:r>
            <a:endParaRPr/>
          </a:p>
        </p:txBody>
      </p:sp>
      <p:pic>
        <p:nvPicPr>
          <p:cNvPr id="101" name="Google Shape;101;p20" title="Screenshot 2025-05-28 alle 16.02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273" y="3050225"/>
            <a:ext cx="2042025" cy="20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2193025"/>
            <a:ext cx="6685800" cy="3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Primo grande mass-mailing worm su sistemi IBM VM/CMS.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Mostrava un'animazione ASCII natalizia e si auto-inviava ai contatti dell’utente.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Diffusione massiva</a:t>
            </a:r>
            <a:r>
              <a:rPr lang="it"/>
              <a:t>: fino a 500.000 repliche/ora, causando congestione delle reti accademiche.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Dimostrò che anche sistemi centralizzati potevano essere paralizzati da codice auto-propagante.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breve storia dei malware... Virus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536625"/>
            <a:ext cx="8520600" cy="47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1988 – Morris Internet Worm</a:t>
            </a:r>
            <a:br>
              <a:rPr lang="it"/>
            </a:br>
            <a:br>
              <a:rPr lang="it"/>
            </a:br>
            <a:r>
              <a:rPr lang="it"/>
              <a:t>Primo worm a diffondersi su larga scala su Internet.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Sfruttava vulnerabilità in sendmail, finger, rsh e password deboli.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Una scelta progettuale (reinfezione casuale) causò sovraccarico e blocco di migliaia di sistemi (tra 6.000 e 10.000 macchine).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Evento storico</a:t>
            </a:r>
            <a:r>
              <a:rPr lang="it"/>
              <a:t>: portò alla creazione del CERT (Computer Emergency Response Team).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Considerato il primo grande incidente di sicurezza della storia di Internet.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Una breve storia dei malware... Virus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536626"/>
            <a:ext cx="85206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1998 – Back Orifice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Rilasciato dal </a:t>
            </a:r>
            <a:r>
              <a:rPr i="1" lang="it"/>
              <a:t>Cult of the Dead Cow</a:t>
            </a:r>
            <a:r>
              <a:rPr lang="it"/>
              <a:t> per dimostrare la mancanza di sicurezza nei sistemi Windows dell’epoca.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Trojan che permetteva controllo remoto completo del sistema infetto.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Facilissimo da usare e diffondere, popolare nei canali IRC.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Rese evidente il problema delle backdoor e della </a:t>
            </a:r>
            <a:r>
              <a:rPr b="1" lang="it"/>
              <a:t>scarsa protezione dei sistemi consumer anni ’90</a:t>
            </a:r>
            <a:r>
              <a:rPr lang="it"/>
              <a:t>.</a:t>
            </a:r>
            <a:endParaRPr/>
          </a:p>
        </p:txBody>
      </p:sp>
      <p:pic>
        <p:nvPicPr>
          <p:cNvPr id="115" name="Google Shape;115;p22" title="bo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712" y="4475628"/>
            <a:ext cx="3284575" cy="23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Persistenza e controllo remoto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536625"/>
            <a:ext cx="8520600" cy="51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</a:t>
            </a:r>
            <a:r>
              <a:rPr b="1" lang="it"/>
              <a:t>backdoor </a:t>
            </a:r>
            <a:r>
              <a:rPr lang="it"/>
              <a:t>(porta sul retro)</a:t>
            </a:r>
            <a:r>
              <a:rPr b="1" lang="it"/>
              <a:t> </a:t>
            </a:r>
            <a:r>
              <a:rPr lang="it"/>
              <a:t>è un meccanismo che permette l’accesso nascosto a un sistema, aggirando le normali misure di autenticazione o sicurezza.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Può essere introdotta da: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software malevolo (trojan, RAT),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vulnerabilità intenzionali o accidentali,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configurazioni errate,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insider malintenzionati.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Obiettivo tipico: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controllo remoto,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raccolta di informazioni,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installazione di ulteriore malware,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persistenza nel sistema.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backdoor diventano spesso parte di una botnet, permettendo il </a:t>
            </a:r>
            <a:r>
              <a:rPr b="1" lang="it"/>
              <a:t>controllo coordinato di molte macchine infette.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/>
              <a:t>Da non confondere con gli exploit</a:t>
            </a:r>
            <a:r>
              <a:rPr lang="it"/>
              <a:t>: una backdoor rimane nel sistema e permette accesso continuo nel tempo.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352"/>
              <a:buFont typeface="Arial"/>
              <a:buNone/>
            </a:pPr>
            <a:r>
              <a:rPr lang="it"/>
              <a:t>Una breve storia dei malware... Virus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536625"/>
            <a:ext cx="8646600" cy="19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it" sz="1740"/>
              <a:t>1999 – Melissa Virus</a:t>
            </a:r>
            <a:endParaRPr b="1" sz="17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t" sz="1740"/>
              <a:t>Macro-virus per Microsoft Word diffuso tramite email.</a:t>
            </a:r>
            <a:endParaRPr sz="17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it" sz="1740"/>
              <a:t>Si auto-inviava ai primi 50 contatti della rubrica dell’utente, causando traffico massivo sulle reti corporate.</a:t>
            </a:r>
            <a:endParaRPr sz="174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it" sz="1740"/>
              <a:t>All’utente bastava aprire un allegato per infettarsi.</a:t>
            </a:r>
            <a:endParaRPr sz="1740"/>
          </a:p>
        </p:txBody>
      </p:sp>
      <p:pic>
        <p:nvPicPr>
          <p:cNvPr id="128" name="Google Shape;128;p24" title="virus_melis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550" y="3827475"/>
            <a:ext cx="4075650" cy="256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3596775"/>
            <a:ext cx="4323300" cy="30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Primo grande caso di email-borne macro virus su scala globale (il concetto di macro virus risale al 1995).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/>
              <a:t>Costrinse molte aziende, incluse Microsoft e FBI, a intervenire rapidamente → forte impatto mediatico.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“Macro” Virus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536624"/>
            <a:ext cx="85206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file di dati erano tradizionalmente considerati sicuri dai virus.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funzionalità di macro aggiungono codice ai file di dati.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Esempio: le macro di un foglio di calcolo possono: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modificare un foglio di calcolo,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modificare altri fogli di calcolo,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accedere alla rubrica,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inviare email,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Difficile da rimuovere.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536624"/>
            <a:ext cx="8520600" cy="50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1999 – I primi attacchi DDoS tramite macchine “trojanizzate” (zombies)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Per la prima volta compaiono attacchi DDoS distribuiti su larga scala condotti tramite PC compromessi (detti zombies).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macchine infette erano controllate tramite trojan/backdoor, costituendo le prime forme rudimentali di botnet.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Gli attacchi più noti coinvolsero flood di traffico verso bersagli ad alta visibilità (università, provider, siti istituzionali).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Segnarono l’inizio del passaggio da malware “dimostrativo” a strumento reale di attacco organizzato.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Premessa fondamentale per gli attacchi DDoS di inizio anni 2000 (MafiaBoy, Trinoo, TFN).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1999 – I rootkit del kernel diventano pubblici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Pubblicati i primi kernel rootkit moderni per Linux, tra cui </a:t>
            </a:r>
            <a:r>
              <a:rPr b="1" lang="it"/>
              <a:t>Knark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Segna l’inizio della sofisticazione del malware orientato alla persistenza e alla stealth mode a livello kernel (sistema operativo).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Questi rootkit resero evidente che il malware poteva operare sotto il sistema operativo, diventando invisibile agli strumenti tradizionali.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2000 – ILOVEYOU (email worm su larga scala) – Social Engineering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Worm di massa distribuito tramite email con oggetto “ILOVEYOU”.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Allegato mascherato: LOVE-LETTER-FOR-YOU.TXT.vbs → script eseguito dall’utente pensando fosse un file di testo.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Esempio emblematico di social engineering: la curiosità dell’utente era il vettore di infezione.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Il worm si auto-inviava ai contatti di Outlook, diffondendosi rapidamente in tutto il mondo.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/>
              <a:t>Danni enormi</a:t>
            </a:r>
            <a:r>
              <a:rPr lang="it"/>
              <a:t>: interruzioni di servizio, reti aziendali bloccate, milioni di sistemi coinvolti.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2001 – Code Red (worm su larga scala basato su exploit)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Worm che sfruttava una vulnerabilità in Microsoft IIS (</a:t>
            </a:r>
            <a:r>
              <a:rPr b="1" lang="it"/>
              <a:t>buffer overflow</a:t>
            </a:r>
            <a:r>
              <a:rPr lang="it"/>
              <a:t> in idq.dll).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Nessuna interazione dell’utente: infezione completamente exploit-based e autonoma.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Si propagava effettuando scanning di indirizzi IP casuali alla ricerca di server vulnerabili.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Divenne una delle prime grandi epidemie Internet: centinaia di migliaia di sistemi compromessi.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Effetti</a:t>
            </a:r>
            <a:r>
              <a:rPr lang="it"/>
              <a:t>: deturpazione di siti web (es., codice HTML modificato con slogan) e attacchi DDoS (es. contro il sito della Casa Bianca).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Segnò l’inizio dell’era dei worm veloci e automatizzati basati su vulnerabilità remote.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536624"/>
            <a:ext cx="8520600" cy="48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2003 – SQL Slammer (worm estremamente rapido tramite UDP)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Worm di dimensioni minuscole (~376 byte!) che sfruttava una vulnerabilità in Microsoft SQL Server / MSDE.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Si diffondeva tramite UDP (porta 1434), quindi senza handshake → propagazione fulminea.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Infettò la maggior parte delle vittime in meno di 10 minuti; picco globale in circa 3 minuti.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Causò congestione massiva delle reti, blackout di router, rallentamenti di banche, aeroporti e servizi cruciali.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È uno dei casi più studiati di worm “flash”, esempio perfetto di propagazione epidemica esponenziale.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Worm moderni: scanner di massa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536625"/>
            <a:ext cx="8520600" cy="48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 schema di base è lo stesso: infettare un computer e cercare nuovi bersagli.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Diffusione più rapida (minuti) e su larga scala (centinaia di migliaia di host).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Scanning: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Selezione di indirizzi casuali.</a:t>
            </a:r>
            <a:endParaRPr b="1"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Local preference</a:t>
            </a:r>
            <a:r>
              <a:rPr lang="it"/>
              <a:t>: più scansioni verso la rete locale.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Permutation scanning</a:t>
            </a:r>
            <a:r>
              <a:rPr lang="it"/>
              <a:t>: suddivisione dello spazio di indirizzamento IP.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Hit list scanning</a:t>
            </a:r>
            <a:r>
              <a:rPr lang="it"/>
              <a:t>: utilizzo di una lista preliminare di host vulnerabili.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Warhol worm:</a:t>
            </a:r>
            <a:r>
              <a:rPr lang="it"/>
              <a:t> combinazione di hit list + permutation scanning.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</a:t>
            </a:r>
            <a:r>
              <a:rPr lang="it"/>
              <a:t>aper “How to 0wn the Internet in your spare time”,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http://www.icir.org/vern/papers/cdc-usenix-sec02/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Silence on the Wires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Pensavamo tutti che Internet sarebbe diventata sempre più “piena di worm”.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Dal 2004, però, “silenzio sulle linee”: nessuna nuova grande epidemia di worm.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vulnerabilità sfruttabili c’erano, e più di una volta ci siamo persino preparati al peggio :-)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Dove sono finiti gli autori dei worm?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Domande correlate…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536625"/>
            <a:ext cx="8520600" cy="50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nessun worm ha mai preso di mira l’infrastruttura di Internet?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 worm tradizionale per la propagazione + un payload specializzato per danneggiare l’infrastruttura.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finestre di opportunità ci sono state: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Giugno 2003</a:t>
            </a:r>
            <a:r>
              <a:rPr lang="it"/>
              <a:t>: MS03-026, vulnerabilità RPC-DCOM (Blaster) + Blocco delle interfacce Cisco IOS tramite pacchetti IPv4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Aprile 2004</a:t>
            </a:r>
            <a:r>
              <a:rPr lang="it"/>
              <a:t>: MS04-011, vulnerabilità LSASS (Sasser) + reset TCP su diversi prodotti Cisco 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Quindi perché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/bin/laden</a:t>
            </a:r>
            <a:r>
              <a:rPr lang="it"/>
              <a:t> non ha colpito?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>
                <a:solidFill>
                  <a:schemeClr val="lt1"/>
                </a:solidFill>
              </a:rPr>
              <a:t>Risposta</a:t>
            </a:r>
            <a:r>
              <a:rPr lang="it">
                <a:solidFill>
                  <a:schemeClr val="lt1"/>
                </a:solidFill>
              </a:rPr>
              <a:t>: mancanza di motivazione — gli attaccanti hanno bisogno che l’infrastruttura rimanga attiva per poter fare ciò che devono fare.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Domande correlate…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536625"/>
            <a:ext cx="8520600" cy="50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nessun worm ha mai preso di mira l’infrastruttura di Internet?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 worm tradizionale per la propagazione + un payload specializzato per danneggiare l’infrastruttura.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finestre di opportunità ci sono state: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Giugno 2003</a:t>
            </a:r>
            <a:r>
              <a:rPr lang="it"/>
              <a:t>: MS03-026, vulnerabilità RPC-DCOM (Blaster) + Blocco delle interfacce Cisco IOS tramite pacchetti IPv4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Aprile 2004</a:t>
            </a:r>
            <a:r>
              <a:rPr lang="it"/>
              <a:t>: MS04-011, vulnerabilità LSASS (Sasser) + reset TCP su diversi prodotti Cisco 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Quindi perché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/bin/laden</a:t>
            </a:r>
            <a:r>
              <a:rPr lang="it"/>
              <a:t> non ha colpito?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/>
              <a:t>Risposta</a:t>
            </a:r>
            <a:r>
              <a:rPr lang="it"/>
              <a:t>: mancanza di motivazione — gli attaccanti hanno bisogno che l’infrastruttura rimanga attiva per poter fare ciò che devono fare.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 ma anche …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536625"/>
            <a:ext cx="8520600" cy="50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Gli attaccanti oggi sono interessati a </a:t>
            </a:r>
            <a:r>
              <a:rPr b="1" lang="it"/>
              <a:t>monetizzare il loro malware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Monetizzazione diretta (ad esempio, abuso di carte di credito, connessioni a numeri a tariffazione speciale).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Monetizzazione indiretta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Raccolta di informazioni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Abuso delle risorse di calcolo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Affitto o vendita di infrastrutture di botnet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Tutto ciò ha creato una crescente </a:t>
            </a:r>
            <a:r>
              <a:rPr b="1" lang="it"/>
              <a:t>underground economy</a:t>
            </a:r>
            <a:r>
              <a:rPr lang="it"/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L’ecosistema Cybercrime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Gruppi organizzati di cybercriminali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Diverse “attività”: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sviluppo e acquisizione di exploit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infezione di siti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monitoraggio delle vittime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vendita di “exploit kit”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…e offrono persino supporto ai loro clienti.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Approfondimento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it"/>
              <a:t>“Manufacturing Compromise: The Emergence of Exploit-as-a-Service”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http://cseweb.ucsd.edu/~voelker/pubs/eaas-ccs12.pdf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536624"/>
            <a:ext cx="8520600" cy="49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Dal 2004 in poi emergono malware progettati principalmente per costruire reti di macchine compromesse (botnet).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Obiettivi: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controllo remoto su larga scala,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monetizzazione (spam, phishing, furto credenziali),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affitto/vendita dell’infrastruttura,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operazioni di cyber-crimine organizzato.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Esempi celebri: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Storm Worm – mass-mailing + P2P, difficile da smantellare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Torpig / Mebroot – furto credenziali bancarie, infrastruttura sofisticata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Koobface – propagazione via social network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Conficker – esploit-based, milioni di sistemi infetti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Stuxnet – malware industriale altamente mirato, dimostrazione dell’uso statale del malware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Segna il passaggio dal malware “dimostrativo” ai sistemi criminali su larga scala, spesso dotati di persistenza, stealth e comandi remoti complessi.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L’ascesa dei Bot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311700" y="1536624"/>
            <a:ext cx="8520600" cy="49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Abuso di bot IRC (IRCwars):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IRCwars</a:t>
            </a:r>
            <a:r>
              <a:rPr lang="it"/>
              <a:t>: uno dei primi attacchi DDoS documentati.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 canali IRC (Internet Relay Chat) venivano utilizzati come meccanismo di coordinamento dei primi “bot”.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Molti utenti malevoli riuscivano a prendere controllo dei bot attraverso IRC e li usavano per lanciare attacchi DDoS rudimentali.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Questi conflitti tra gruppi IRC sono tra i primissimi casi documentati di attacchi DDoS organizzati.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1999: </a:t>
            </a:r>
            <a:r>
              <a:rPr b="1" lang="it"/>
              <a:t>trinoo</a:t>
            </a:r>
            <a:r>
              <a:rPr lang="it"/>
              <a:t>, “strumento di attacco DDoS”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originariamente girava su Solaris (poi portato su Windows).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la configurazione della botnet era perlopiù manuale.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Agosto 1999: attacco DDoS contro un server dell’Università del Minnesota usando almeno 227 bot. (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http://staff.washington.edu/dittrich/misc/trinoo.analysis</a:t>
            </a:r>
            <a:r>
              <a:rPr lang="it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Anni 2000: attacchi DDoS contro siti di grande visibilità (Amazon, CNN, eBay) ottennero enorme copertura mediatica.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Botnet</a:t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311700" y="1536630"/>
            <a:ext cx="85206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Una botnet è una rete composta da diversi bot malevoli che sono controllati da un comandante, comunemente chiamato botmaster (o botherder).</a:t>
            </a:r>
            <a:endParaRPr/>
          </a:p>
        </p:txBody>
      </p:sp>
      <p:pic>
        <p:nvPicPr>
          <p:cNvPr id="220" name="Google Shape;2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425" y="3053000"/>
            <a:ext cx="6040299" cy="36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PhatBot: comandi d’esempio</a:t>
            </a:r>
            <a:endParaRPr/>
          </a:p>
        </p:txBody>
      </p:sp>
      <p:sp>
        <p:nvSpPr>
          <p:cNvPr id="226" name="Google Shape;226;p40"/>
          <p:cNvSpPr txBox="1"/>
          <p:nvPr>
            <p:ph idx="1" type="body"/>
          </p:nvPr>
        </p:nvSpPr>
        <p:spPr>
          <a:xfrm>
            <a:off x="311700" y="1536625"/>
            <a:ext cx="4260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</a:t>
            </a:r>
            <a:r>
              <a:rPr lang="it"/>
              <a:t>accogliere indirizzi email dall’host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Registrare tutti i tasti premuti (keylogging)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Sniffare il traffico di rete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Catturare screenshot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Avviare un server HTTP che permette di sfogliare il disco C: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Terminare una lista predefinita di processi</a:t>
            </a:r>
            <a:endParaRPr/>
          </a:p>
          <a:p>
            <a:pPr indent="-3663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Programmi antivirus</a:t>
            </a:r>
            <a:endParaRPr/>
          </a:p>
          <a:p>
            <a:pPr indent="-3663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Malware concorrenti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4572000" y="1536625"/>
            <a:ext cx="4260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</a:t>
            </a:r>
            <a:r>
              <a:rPr lang="it"/>
              <a:t>ubare le product key di Windows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Rubare anche le key di giochi popolari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Proxy SOCKS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Imposta un proxy da usare come “stepping stone” per inviare SPAM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Scaricare un file da un URL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Eseguire un comando di shell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Aggiornamento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Permette di modificare i comandi disponibili!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…che si trasforma in una storia di worm</a:t>
            </a:r>
            <a:endParaRPr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311700" y="1536624"/>
            <a:ext cx="8520600" cy="49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Scareware:</a:t>
            </a:r>
            <a:endParaRPr b="1"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Finti antivirus o tool di pulizia che mostrano allarmi falsi.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Inducono l’utente a pagare per “riparare” problemi inesistenti.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Ransomware:</a:t>
            </a:r>
            <a:endParaRPr b="1"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Cifra i file della vittima e richiede un riscatto per decriptarli.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Diventa una delle minacce più redditizie e diffuse a partire dagli anni 2010.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Esempi: CryptoLocker, WannaCry, NotPetya.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Malware sponsorizzato da stati (APT):</a:t>
            </a:r>
            <a:endParaRPr b="1"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Progettato per operazioni strategiche: spionaggio, sabotaggio, attacchi mirati.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Altamente sofisticato e spesso rivolto a infrastrutture industriali o governative.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Esempi: Stuxnet, Duqu, Flame, Regin.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Segna l’evoluzione del malware da semplice disturbo a vera arma economica, criminale e geopolitica.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600">
                <a:latin typeface="Exo 2"/>
                <a:ea typeface="Exo 2"/>
                <a:cs typeface="Exo 2"/>
                <a:sym typeface="Exo 2"/>
              </a:rPr>
              <a:t>Storia dei Ransomware</a:t>
            </a:r>
            <a:endParaRPr b="1" sz="3600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9" name="Google Shape;239;p42"/>
          <p:cNvSpPr txBox="1"/>
          <p:nvPr/>
        </p:nvSpPr>
        <p:spPr>
          <a:xfrm>
            <a:off x="518050" y="1622725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1996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0" name="Google Shape;240;p42"/>
          <p:cNvSpPr txBox="1"/>
          <p:nvPr/>
        </p:nvSpPr>
        <p:spPr>
          <a:xfrm>
            <a:off x="2011000" y="1622721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2004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1" name="Google Shape;241;p42"/>
          <p:cNvSpPr txBox="1"/>
          <p:nvPr/>
        </p:nvSpPr>
        <p:spPr>
          <a:xfrm>
            <a:off x="1264523" y="1622725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2000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42"/>
          <p:cNvSpPr txBox="1"/>
          <p:nvPr/>
        </p:nvSpPr>
        <p:spPr>
          <a:xfrm>
            <a:off x="4227957" y="1622725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2012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-100" y="2013800"/>
            <a:ext cx="9144000" cy="13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2"/>
          <p:cNvSpPr txBox="1"/>
          <p:nvPr/>
        </p:nvSpPr>
        <p:spPr>
          <a:xfrm>
            <a:off x="857950" y="3992765"/>
            <a:ext cx="1065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Prototype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45" name="Google Shape;245;p42"/>
          <p:cNvCxnSpPr/>
          <p:nvPr/>
        </p:nvCxnSpPr>
        <p:spPr>
          <a:xfrm>
            <a:off x="857950" y="1883425"/>
            <a:ext cx="0" cy="269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42"/>
          <p:cNvSpPr txBox="1"/>
          <p:nvPr/>
        </p:nvSpPr>
        <p:spPr>
          <a:xfrm>
            <a:off x="1576473" y="3231077"/>
            <a:ext cx="1065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One_Half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47" name="Google Shape;247;p42"/>
          <p:cNvCxnSpPr/>
          <p:nvPr/>
        </p:nvCxnSpPr>
        <p:spPr>
          <a:xfrm>
            <a:off x="1576473" y="1883425"/>
            <a:ext cx="0" cy="18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42"/>
          <p:cNvSpPr txBox="1"/>
          <p:nvPr/>
        </p:nvSpPr>
        <p:spPr>
          <a:xfrm>
            <a:off x="2350890" y="2702180"/>
            <a:ext cx="1065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GpCode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49" name="Google Shape;249;p42"/>
          <p:cNvCxnSpPr/>
          <p:nvPr/>
        </p:nvCxnSpPr>
        <p:spPr>
          <a:xfrm>
            <a:off x="4567848" y="1883425"/>
            <a:ext cx="0" cy="426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42"/>
          <p:cNvSpPr txBox="1"/>
          <p:nvPr/>
        </p:nvSpPr>
        <p:spPr>
          <a:xfrm>
            <a:off x="4558537" y="5651372"/>
            <a:ext cx="1065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Reveton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4822246" y="1622725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2013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2" name="Google Shape;252;p42"/>
          <p:cNvCxnSpPr/>
          <p:nvPr/>
        </p:nvCxnSpPr>
        <p:spPr>
          <a:xfrm>
            <a:off x="2350898" y="1883425"/>
            <a:ext cx="0" cy="128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42"/>
          <p:cNvCxnSpPr/>
          <p:nvPr/>
        </p:nvCxnSpPr>
        <p:spPr>
          <a:xfrm>
            <a:off x="5162148" y="1883425"/>
            <a:ext cx="0" cy="366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42"/>
          <p:cNvSpPr txBox="1"/>
          <p:nvPr/>
        </p:nvSpPr>
        <p:spPr>
          <a:xfrm>
            <a:off x="5162150" y="5157700"/>
            <a:ext cx="13866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CryptoLocker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5450483" y="1622713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2014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5790375" y="3196375"/>
            <a:ext cx="15237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CryptoWall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Reveton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Koler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Simplocker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Svpeng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ScarePackage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7" name="Google Shape;257;p42"/>
          <p:cNvCxnSpPr>
            <a:stCxn id="255" idx="2"/>
          </p:cNvCxnSpPr>
          <p:nvPr/>
        </p:nvCxnSpPr>
        <p:spPr>
          <a:xfrm>
            <a:off x="5790383" y="1883413"/>
            <a:ext cx="0" cy="324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42"/>
          <p:cNvCxnSpPr/>
          <p:nvPr/>
        </p:nvCxnSpPr>
        <p:spPr>
          <a:xfrm>
            <a:off x="6421706" y="1913863"/>
            <a:ext cx="0" cy="111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42"/>
          <p:cNvSpPr txBox="1"/>
          <p:nvPr/>
        </p:nvSpPr>
        <p:spPr>
          <a:xfrm>
            <a:off x="6101904" y="1622713"/>
            <a:ext cx="679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2015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60" name="Google Shape;260;p42"/>
          <p:cNvSpPr txBox="1"/>
          <p:nvPr/>
        </p:nvSpPr>
        <p:spPr>
          <a:xfrm>
            <a:off x="6421700" y="2410975"/>
            <a:ext cx="17850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CBT-Locker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New Simplocker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61" name="Google Shape;2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330" y="2879030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0105" y="3407927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448" y="4147561"/>
            <a:ext cx="260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0375" y="4809634"/>
            <a:ext cx="260700" cy="27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750" y="4475909"/>
            <a:ext cx="260700" cy="27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9675" y="4135534"/>
            <a:ext cx="260700" cy="27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325" y="3828011"/>
            <a:ext cx="260700" cy="27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1800" y="2702186"/>
            <a:ext cx="260700" cy="272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705" y="3184405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755" y="3506205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9905" y="2397930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5147" y="5243217"/>
            <a:ext cx="260700" cy="2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2836" y="5856144"/>
            <a:ext cx="260700" cy="26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42"/>
          <p:cNvCxnSpPr/>
          <p:nvPr/>
        </p:nvCxnSpPr>
        <p:spPr>
          <a:xfrm>
            <a:off x="845673" y="4579225"/>
            <a:ext cx="1126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42"/>
          <p:cNvCxnSpPr/>
          <p:nvPr/>
        </p:nvCxnSpPr>
        <p:spPr>
          <a:xfrm>
            <a:off x="1576473" y="3732025"/>
            <a:ext cx="1126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42"/>
          <p:cNvCxnSpPr/>
          <p:nvPr/>
        </p:nvCxnSpPr>
        <p:spPr>
          <a:xfrm>
            <a:off x="2350898" y="3173125"/>
            <a:ext cx="1126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42"/>
          <p:cNvCxnSpPr/>
          <p:nvPr/>
        </p:nvCxnSpPr>
        <p:spPr>
          <a:xfrm>
            <a:off x="4561502" y="6144777"/>
            <a:ext cx="1126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42"/>
          <p:cNvCxnSpPr/>
          <p:nvPr/>
        </p:nvCxnSpPr>
        <p:spPr>
          <a:xfrm>
            <a:off x="5162148" y="5548900"/>
            <a:ext cx="1523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42"/>
          <p:cNvCxnSpPr/>
          <p:nvPr/>
        </p:nvCxnSpPr>
        <p:spPr>
          <a:xfrm>
            <a:off x="5790373" y="5129183"/>
            <a:ext cx="1523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42"/>
          <p:cNvCxnSpPr/>
          <p:nvPr/>
        </p:nvCxnSpPr>
        <p:spPr>
          <a:xfrm>
            <a:off x="6418598" y="3028084"/>
            <a:ext cx="1785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42"/>
          <p:cNvSpPr txBox="1"/>
          <p:nvPr/>
        </p:nvSpPr>
        <p:spPr>
          <a:xfrm>
            <a:off x="7012894" y="1622725"/>
            <a:ext cx="1862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...WannaCry…?</a:t>
            </a:r>
            <a:endParaRPr b="1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0000"/>
              </a:solidFill>
            </a:endParaRPr>
          </a:p>
        </p:txBody>
      </p:sp>
      <p:pic>
        <p:nvPicPr>
          <p:cNvPr id="287" name="Google Shape;28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77575"/>
            <a:ext cx="8224475" cy="54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3"/>
          <p:cNvSpPr txBox="1"/>
          <p:nvPr/>
        </p:nvSpPr>
        <p:spPr>
          <a:xfrm>
            <a:off x="6402850" y="1974037"/>
            <a:ext cx="2199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Strategical attacks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3927625" y="3948084"/>
            <a:ext cx="2199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 attacks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3"/>
          <p:cNvSpPr txBox="1"/>
          <p:nvPr/>
        </p:nvSpPr>
        <p:spPr>
          <a:xfrm>
            <a:off x="1452400" y="4582225"/>
            <a:ext cx="2199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1452400" y="5042500"/>
            <a:ext cx="21990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showing off skills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demonstrate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43"/>
          <p:cNvSpPr txBox="1"/>
          <p:nvPr/>
        </p:nvSpPr>
        <p:spPr>
          <a:xfrm>
            <a:off x="3927625" y="4326675"/>
            <a:ext cx="2199000" cy="17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sng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aspects:</a:t>
            </a:r>
            <a:endParaRPr b="1" i="0" sz="1400" u="sng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profit oriented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organized groups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opportunism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6402850" y="2352625"/>
            <a:ext cx="21990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sng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aspects:</a:t>
            </a:r>
            <a:endParaRPr b="1" i="0" sz="1400" u="sng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high-profile targets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critical infrastructures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political activism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espionage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states as new actor</a:t>
            </a:r>
            <a:endParaRPr b="1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4" name="Google Shape;294;p43"/>
          <p:cNvGrpSpPr/>
          <p:nvPr/>
        </p:nvGrpSpPr>
        <p:grpSpPr>
          <a:xfrm>
            <a:off x="3620775" y="1764400"/>
            <a:ext cx="5206200" cy="357900"/>
            <a:chOff x="3620775" y="1764400"/>
            <a:chExt cx="5206200" cy="357900"/>
          </a:xfrm>
        </p:grpSpPr>
        <p:cxnSp>
          <p:nvCxnSpPr>
            <p:cNvPr id="295" name="Google Shape;295;p43"/>
            <p:cNvCxnSpPr/>
            <p:nvPr/>
          </p:nvCxnSpPr>
          <p:spPr>
            <a:xfrm>
              <a:off x="3620775" y="1943350"/>
              <a:ext cx="5206200" cy="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96" name="Google Shape;296;p43"/>
            <p:cNvCxnSpPr/>
            <p:nvPr/>
          </p:nvCxnSpPr>
          <p:spPr>
            <a:xfrm>
              <a:off x="3620775" y="1764400"/>
              <a:ext cx="0" cy="357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7" name="Google Shape;297;p43"/>
          <p:cNvSpPr txBox="1"/>
          <p:nvPr/>
        </p:nvSpPr>
        <p:spPr>
          <a:xfrm>
            <a:off x="3692375" y="1564740"/>
            <a:ext cx="3211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malicious botnets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300">
                <a:latin typeface="Arial"/>
                <a:ea typeface="Arial"/>
                <a:cs typeface="Arial"/>
                <a:sym typeface="Arial"/>
              </a:rPr>
              <a:t>30 anni di software malevolo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Difendersi contro i malware</a:t>
            </a:r>
            <a:endParaRPr/>
          </a:p>
        </p:txBody>
      </p:sp>
      <p:sp>
        <p:nvSpPr>
          <p:cNvPr id="304" name="Google Shape;304;p44"/>
          <p:cNvSpPr txBox="1"/>
          <p:nvPr>
            <p:ph idx="1" type="body"/>
          </p:nvPr>
        </p:nvSpPr>
        <p:spPr>
          <a:xfrm>
            <a:off x="311700" y="1536624"/>
            <a:ext cx="8520600" cy="48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Patch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maggior parte dei worm sfrutta vulnerabilità note.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Rilevare il malware</a:t>
            </a:r>
            <a:endParaRPr b="1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Firme </a:t>
            </a:r>
            <a:r>
              <a:rPr lang="it"/>
              <a:t>(cosa è il malware)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Schemi o sequenze di codice unici e riconoscibili. Devono essere create automaticamente: i worm operano troppo velocemente perché una risposta manuale sia efficace.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Comportamenti </a:t>
            </a:r>
            <a:r>
              <a:rPr lang="it"/>
              <a:t>(cosa fa il malware)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Azioni note compiute su un sistema (es. furto di dati, modifica di file, spionaggio sull’utente, propagazione, interruzione delle operazioni).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Rilevamento di intrusioni o anomalie</a:t>
            </a:r>
            <a:r>
              <a:rPr lang="it"/>
              <a:t> (effetti sul sistema/rete infetti)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Identificare diffusione rapida, attività sospette.</a:t>
            </a:r>
            <a:endParaRPr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Può essere un punto di partenza per la generazione automatica di firme.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Antivirus e Anti-malware</a:t>
            </a:r>
            <a:endParaRPr/>
          </a:p>
        </p:txBody>
      </p:sp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311700" y="1536624"/>
            <a:ext cx="8520600" cy="49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Software progettato per rilevare, bloccare e rimuovere software malevolo (malware) da computer e reti.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Strategia di base: rilevamento tramite firme</a:t>
            </a:r>
            <a:endParaRPr b="1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database di firme a livello di byte o di istruzioni che corrispondono a malware conosciuti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possono essere utilizzati wildcard, ed espressioni regolari sono comuni</a:t>
            </a:r>
            <a:endParaRPr/>
          </a:p>
        </p:txBody>
      </p:sp>
      <p:pic>
        <p:nvPicPr>
          <p:cNvPr id="311" name="Google Shape;311;p45"/>
          <p:cNvPicPr preferRelativeResize="0"/>
          <p:nvPr/>
        </p:nvPicPr>
        <p:blipFill rotWithShape="1">
          <a:blip r:embed="rId3">
            <a:alphaModFix/>
          </a:blip>
          <a:srcRect b="8508" l="0" r="0" t="0"/>
          <a:stretch/>
        </p:blipFill>
        <p:spPr>
          <a:xfrm>
            <a:off x="2063788" y="3302174"/>
            <a:ext cx="5188925" cy="154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8513" y="4938118"/>
            <a:ext cx="3429745" cy="1182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Antivirus e Anti-malware</a:t>
            </a:r>
            <a:endParaRPr/>
          </a:p>
        </p:txBody>
      </p:sp>
      <p:sp>
        <p:nvSpPr>
          <p:cNvPr id="318" name="Google Shape;318;p46"/>
          <p:cNvSpPr txBox="1"/>
          <p:nvPr>
            <p:ph idx="1" type="body"/>
          </p:nvPr>
        </p:nvSpPr>
        <p:spPr>
          <a:xfrm>
            <a:off x="311700" y="1536624"/>
            <a:ext cx="8520600" cy="50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Software progettato per rilevare, bloccare e rimuovere software malevolo (malware) da computer e reti.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Strategia di base: rilevamento tramite firme</a:t>
            </a:r>
            <a:endParaRPr b="1"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database di firme a livello di byte o di istruzioni che corrispondono a malware conosciuti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è possibile utilizzare wildcard; le espressioni regolari sono comuni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Euristiche (verifica di segni di infezione)</a:t>
            </a:r>
            <a:endParaRPr b="1"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l’esecuzione del codice non inizia dove dovrebbe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nome sospetto della sezione di codice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Rilevamento comportamentale</a:t>
            </a:r>
            <a:endParaRPr b="1"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rilevare i segni (il comportamento) di malware conosciuti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rilevare “comportamenti/azioni comuni” tipici del malware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e identificazione dei malware</a:t>
            </a:r>
            <a:endParaRPr/>
          </a:p>
        </p:txBody>
      </p:sp>
      <p:sp>
        <p:nvSpPr>
          <p:cNvPr id="324" name="Google Shape;324;p47"/>
          <p:cNvSpPr txBox="1"/>
          <p:nvPr>
            <p:ph idx="1" type="body"/>
          </p:nvPr>
        </p:nvSpPr>
        <p:spPr>
          <a:xfrm>
            <a:off x="311700" y="1536624"/>
            <a:ext cx="8520600" cy="49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Workflow ex-post: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Un eseguibile sospetto viene segnalato da “qualcuno”.</a:t>
            </a:r>
            <a:br>
              <a:rPr lang="it"/>
            </a:br>
            <a:r>
              <a:rPr lang="it"/>
              <a:t>Analizzato automaticamente e manualmente.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Vengono sviluppate firme antivirus e comportamenti/euristiche.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 startAt="3"/>
            </a:pPr>
            <a:r>
              <a:rPr lang="it"/>
              <a:t>Vengono sviluppate firme antivirus e comportamenti/euristiche.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7"/>
          <p:cNvSpPr txBox="1"/>
          <p:nvPr>
            <p:ph idx="1" type="body"/>
          </p:nvPr>
        </p:nvSpPr>
        <p:spPr>
          <a:xfrm>
            <a:off x="311700" y="3292675"/>
            <a:ext cx="4260300" cy="20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Analisi statica</a:t>
            </a:r>
            <a:endParaRPr b="1"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Analisi del codice binario senza eseguirlo.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Tecniche: disassemblaggio, decompilazione, estrazione di stringhe, analisi del flusso di controllo.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Estrae firme / euristiche.</a:t>
            </a:r>
            <a:endParaRPr/>
          </a:p>
        </p:txBody>
      </p:sp>
      <p:sp>
        <p:nvSpPr>
          <p:cNvPr id="326" name="Google Shape;326;p47"/>
          <p:cNvSpPr txBox="1"/>
          <p:nvPr>
            <p:ph idx="1" type="body"/>
          </p:nvPr>
        </p:nvSpPr>
        <p:spPr>
          <a:xfrm>
            <a:off x="4572000" y="3292675"/>
            <a:ext cx="4260300" cy="20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Analisi dinamica</a:t>
            </a:r>
            <a:endParaRPr b="1"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Comporta l’esecuzione del malware in un ambiente controllato per monitorarne il comportamento.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Tecniche: sandboxing, hooking, tracing, monitoraggio delle API a runtime.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Estrae comportamenti / euristiche.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evasioni dei malware</a:t>
            </a:r>
            <a:endParaRPr/>
          </a:p>
        </p:txBody>
      </p:sp>
      <p:sp>
        <p:nvSpPr>
          <p:cNvPr id="332" name="Google Shape;332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Gli scanner antivirus scoprono rapidamente i virus cercando attorno al punto di ingresso del programma.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Offuscamento del punto di ingresso (Entry Point Obfuscation):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Virus multicavity</a:t>
            </a:r>
            <a:r>
              <a:rPr lang="it"/>
              <a:t>: il virus prende il controllo più tardi, dopo che il programma è già stato avviato.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Intercettazioni e sostituzione delle funzioni di libreria.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60"/>
              <a:t>Tecniche di evasioni dei malware: offuscamento</a:t>
            </a:r>
            <a:endParaRPr sz="2860"/>
          </a:p>
        </p:txBody>
      </p:sp>
      <p:sp>
        <p:nvSpPr>
          <p:cNvPr id="338" name="Google Shape;338;p49"/>
          <p:cNvSpPr txBox="1"/>
          <p:nvPr>
            <p:ph idx="1" type="body"/>
          </p:nvPr>
        </p:nvSpPr>
        <p:spPr>
          <a:xfrm>
            <a:off x="311700" y="1536624"/>
            <a:ext cx="8520600" cy="4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Metamorfismo</a:t>
            </a:r>
            <a:endParaRPr b="1"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Genera varianti completamente nuove del codice a ogni infezione.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codice appare diverso a livello di sintassi, ma mantiene la stessa semantica (stesso comportamento).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Ancora più difficile da rilevare, anche con analisi euristiche o comportamentali.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Polimorfismo</a:t>
            </a:r>
            <a:endParaRPr b="1"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Cambia la struttura del codice (layout) a ogni infezione.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payload rimane funzionalmente identico, ma viene crittografato o “impacchettato” con una chiave diversa a ogni infezione.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Rende il rilevamento basato su firme poco efficace.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Tuttavia, gli antivirus possono individuare la routine di decrittazione se non è offuscata.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Metamorfismo: codice originale</a:t>
            </a:r>
            <a:endParaRPr/>
          </a:p>
        </p:txBody>
      </p:sp>
      <p:pic>
        <p:nvPicPr>
          <p:cNvPr id="344" name="Google Shape;344;p50"/>
          <p:cNvPicPr preferRelativeResize="0"/>
          <p:nvPr/>
        </p:nvPicPr>
        <p:blipFill rotWithShape="1">
          <a:blip r:embed="rId3">
            <a:alphaModFix/>
          </a:blip>
          <a:srcRect b="14987" l="0" r="15347" t="0"/>
          <a:stretch/>
        </p:blipFill>
        <p:spPr>
          <a:xfrm>
            <a:off x="457200" y="1752600"/>
            <a:ext cx="7668001" cy="42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Metamorfismo: inserimento di codice “morto”</a:t>
            </a:r>
            <a:endParaRPr/>
          </a:p>
        </p:txBody>
      </p:sp>
      <p:pic>
        <p:nvPicPr>
          <p:cNvPr id="350" name="Google Shape;350;p51"/>
          <p:cNvPicPr preferRelativeResize="0"/>
          <p:nvPr/>
        </p:nvPicPr>
        <p:blipFill rotWithShape="1">
          <a:blip r:embed="rId3">
            <a:alphaModFix/>
          </a:blip>
          <a:srcRect b="9730" l="0" r="12701" t="0"/>
          <a:stretch/>
        </p:blipFill>
        <p:spPr>
          <a:xfrm>
            <a:off x="419625" y="1417650"/>
            <a:ext cx="7796900" cy="505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Metamorfismo: riordino delle istruzioni</a:t>
            </a:r>
            <a:endParaRPr/>
          </a:p>
        </p:txBody>
      </p:sp>
      <p:pic>
        <p:nvPicPr>
          <p:cNvPr id="356" name="Google Shape;3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00200"/>
            <a:ext cx="9058275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Altre </a:t>
            </a:r>
            <a:r>
              <a:rPr lang="it"/>
              <a:t>tecniche</a:t>
            </a:r>
            <a:r>
              <a:rPr lang="it"/>
              <a:t> impiegate dai malware</a:t>
            </a:r>
            <a:endParaRPr/>
          </a:p>
        </p:txBody>
      </p:sp>
      <p:sp>
        <p:nvSpPr>
          <p:cNvPr id="362" name="Google Shape;362;p53"/>
          <p:cNvSpPr txBox="1"/>
          <p:nvPr>
            <p:ph idx="1" type="body"/>
          </p:nvPr>
        </p:nvSpPr>
        <p:spPr>
          <a:xfrm>
            <a:off x="311700" y="1536624"/>
            <a:ext cx="8520600" cy="50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Periodo dormiente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Durante il quale non viene mostrato alcun comportamento malevolo.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Payload attivato da eventi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Spesso avviati da un canale di Command &amp; Control (C&amp;C).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Tecniche anti-virtualizzazione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Per evitare analisi in sandbox o macchine virtuali.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Cifratura / Packing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Simile al polimorfismo, ma con tecniche più avanzate usate in malware complessi.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Tecniche di rootkit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Per nascondere processi, file, attività e rendere difficile il rilevamento.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Malware analysis vs tecniche di evasione</a:t>
            </a:r>
            <a:endParaRPr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311700" y="1536625"/>
            <a:ext cx="4260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Analisi statica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38761D"/>
                </a:solidFill>
              </a:rPr>
              <a:t>Pro: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Visibilità completa del codice e copertura totale, inclusi codice dormiente o non raggiungibile.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Sicura — nessun rischio di esecuzione del codice.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90000"/>
                </a:solidFill>
              </a:rPr>
              <a:t>Contro:</a:t>
            </a:r>
            <a:endParaRPr b="1">
              <a:solidFill>
                <a:srgbClr val="990000"/>
              </a:solidFill>
            </a:endParaRPr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Le tecniche di offuscamento (es. metamorfismo, crittografia, packing) possono ostacolare l’analisi.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Nessuna visibilità sul comportamento a runtime o sulla logica dipendente dall’ambiente.</a:t>
            </a:r>
            <a:endParaRPr/>
          </a:p>
        </p:txBody>
      </p:sp>
      <p:sp>
        <p:nvSpPr>
          <p:cNvPr id="369" name="Google Shape;369;p54"/>
          <p:cNvSpPr txBox="1"/>
          <p:nvPr>
            <p:ph idx="1" type="body"/>
          </p:nvPr>
        </p:nvSpPr>
        <p:spPr>
          <a:xfrm>
            <a:off x="4572000" y="1536625"/>
            <a:ext cx="4260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Analisi dinamica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it">
                <a:solidFill>
                  <a:srgbClr val="38761D"/>
                </a:solidFill>
              </a:rPr>
              <a:t>Pro:</a:t>
            </a:r>
            <a:endParaRPr b="1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Supera l’offuscamento: si concentra sul comportamento reale.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Rivela artefatti runtime (es. file generati, connessioni, modifiche al registro).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it">
                <a:solidFill>
                  <a:srgbClr val="990000"/>
                </a:solidFill>
              </a:rPr>
              <a:t>Contro: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Copertura limitata del codice: i rami dormienti potrebbero non essere eseguiti.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Rischio che il malware rilevi l’ambiente (anti-VM, anti-debugging).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