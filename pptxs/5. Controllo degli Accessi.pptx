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6858000" cy="9144000"/>
  <p:embeddedFontLst>
    <p:embeddedFont>
      <p:font typeface="Source Code Pro"/>
      <p:regular r:id="rId27"/>
      <p:bold r:id="rId28"/>
      <p:italic r:id="rId29"/>
      <p:boldItalic r:id="rId30"/>
    </p:embeddedFont>
    <p:embeddedFont>
      <p:font typeface="Exo 2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BD60A3-9D5A-41AA-A265-7E3304E76221}">
  <a:tblStyle styleId="{9DBD60A3-9D5A-41AA-A265-7E3304E762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SourceCodePro-bold.fntdata"/><Relationship Id="rId27" Type="http://schemas.openxmlformats.org/officeDocument/2006/relationships/font" Target="fonts/SourceCode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ourceCodePr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xo2-regular.fntdata"/><Relationship Id="rId30" Type="http://schemas.openxmlformats.org/officeDocument/2006/relationships/font" Target="fonts/SourceCodePro-boldItalic.fntdata"/><Relationship Id="rId11" Type="http://schemas.openxmlformats.org/officeDocument/2006/relationships/slide" Target="slides/slide5.xml"/><Relationship Id="rId33" Type="http://schemas.openxmlformats.org/officeDocument/2006/relationships/font" Target="fonts/Exo2-italic.fntdata"/><Relationship Id="rId10" Type="http://schemas.openxmlformats.org/officeDocument/2006/relationships/slide" Target="slides/slide4.xml"/><Relationship Id="rId32" Type="http://schemas.openxmlformats.org/officeDocument/2006/relationships/font" Target="fonts/Exo2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Exo2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8a3bc66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8a3bc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8a3bc66a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8a3bc6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8a3bc66a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8a3bc66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8a3bc66a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8a3bc6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8a3bc66a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8a3bc66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8a3bc66a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f8a3bc66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8a3bc66a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8a3bc66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8a3bc66a_0_1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8a3bc66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f8a3bc66a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f8a3bc66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f8a3bc66a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f8a3bc66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8a3bc66a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f8a3bc66a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0221e2034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0221e203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f8a3bc66a_0_2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f8a3bc66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f8a3bc66a_0_2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f8a3bc66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fc4e83e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9fc4e83e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fc4e83ef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9fc4e83e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fc4e83ef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9fc4e83ef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fc4e83ef4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9fc4e83ef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fc4e83ef4_0_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fc4e83ef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Exo 2"/>
              <a:buNone/>
              <a:defRPr b="1" sz="3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5</a:t>
            </a:r>
            <a:r>
              <a:rPr b="1" lang="it"/>
              <a:t>. </a:t>
            </a:r>
            <a:r>
              <a:rPr lang="it"/>
              <a:t>Controllo degli Accessi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Sicurezza dell’Informazione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il controllo degli accessi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36624"/>
            <a:ext cx="8520600" cy="4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decisione binaria: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L</a:t>
            </a:r>
            <a:r>
              <a:rPr lang="it"/>
              <a:t>’accesso è consentito oppure negato.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Difficile da gestire in modo efficiente: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Sistemi con migliaia di file e diversi utenti necessitano un algoritmo efficiente per la verifica dei permessi.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Necessità di definire delle </a:t>
            </a:r>
            <a:r>
              <a:rPr i="1" lang="it"/>
              <a:t>regole</a:t>
            </a:r>
            <a:r>
              <a:rPr lang="it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Chi lo fa? Il Reference Monitor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536624"/>
            <a:ext cx="8520600" cy="5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il componente che applica le politiche di controllo degli accessi. Tutti i sistemi operativi moderni includono un’implementazione di un Reference Monitor.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Requisiti del Reference Monitor: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A prova di manomissione (Tamper-proof).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Non aggirabile (Cannot be bypassed).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Sufficientemente piccolo da poter essere verificato/testato.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Autenticazione e autorizzazione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536625"/>
            <a:ext cx="8520600" cy="29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reference monitor </a:t>
            </a:r>
            <a:r>
              <a:rPr b="1" lang="it" u="sng"/>
              <a:t>deve individuare e valutare la politica di sicurezza rilevante per la richiesta in questione</a:t>
            </a:r>
            <a:r>
              <a:rPr lang="it"/>
              <a:t>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Verifica l’identità del soggetto che effettua la richiesta.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Decide se l’accesso è consentito o negato.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“Tutto sommato facile” nei sistemi centralizzati, ma nei sistemi distribuiti…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Come trovare tutte le politiche rilevanti?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Come prendere decisioni se alcune politiche potrebbero mancare?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1274647" y="4775672"/>
            <a:ext cx="3051300" cy="186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535550" y="4775675"/>
            <a:ext cx="3322200" cy="1869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418006" y="5465183"/>
            <a:ext cx="788700" cy="81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Identità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777641" y="5473853"/>
            <a:ext cx="1334100" cy="8166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Processo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78" name="Google Shape;78;p16"/>
          <p:cNvCxnSpPr>
            <a:stCxn id="76" idx="3"/>
            <a:endCxn id="77" idx="2"/>
          </p:cNvCxnSpPr>
          <p:nvPr/>
        </p:nvCxnSpPr>
        <p:spPr>
          <a:xfrm>
            <a:off x="2206706" y="5873483"/>
            <a:ext cx="5709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/>
          <p:nvPr/>
        </p:nvSpPr>
        <p:spPr>
          <a:xfrm>
            <a:off x="4682749" y="5473850"/>
            <a:ext cx="829200" cy="81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Reference Monitor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80" name="Google Shape;80;p16"/>
          <p:cNvCxnSpPr>
            <a:stCxn id="77" idx="6"/>
            <a:endCxn id="79" idx="1"/>
          </p:cNvCxnSpPr>
          <p:nvPr/>
        </p:nvCxnSpPr>
        <p:spPr>
          <a:xfrm>
            <a:off x="4111741" y="5882153"/>
            <a:ext cx="57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6"/>
          <p:cNvSpPr/>
          <p:nvPr/>
        </p:nvSpPr>
        <p:spPr>
          <a:xfrm>
            <a:off x="6042396" y="5465183"/>
            <a:ext cx="788700" cy="81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File,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Risorsa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82" name="Google Shape;82;p16"/>
          <p:cNvCxnSpPr>
            <a:stCxn id="79" idx="3"/>
            <a:endCxn id="81" idx="1"/>
          </p:cNvCxnSpPr>
          <p:nvPr/>
        </p:nvCxnSpPr>
        <p:spPr>
          <a:xfrm flipH="1" rot="10800000">
            <a:off x="5511949" y="5873450"/>
            <a:ext cx="5304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" name="Google Shape;83;p16"/>
          <p:cNvCxnSpPr>
            <a:stCxn id="81" idx="3"/>
            <a:endCxn id="81" idx="0"/>
          </p:cNvCxnSpPr>
          <p:nvPr/>
        </p:nvCxnSpPr>
        <p:spPr>
          <a:xfrm rot="10800000">
            <a:off x="6436896" y="5465183"/>
            <a:ext cx="394200" cy="408300"/>
          </a:xfrm>
          <a:prstGeom prst="bentConnector4">
            <a:avLst>
              <a:gd fmla="val -60407" name="adj1"/>
              <a:gd fmla="val 158321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1616860" y="4523750"/>
            <a:ext cx="2421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Identificazione e Autenticazione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5511799" y="4537062"/>
            <a:ext cx="1267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Autorizzazione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178725" y="6361966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 u="sng">
                <a:latin typeface="Exo 2"/>
                <a:ea typeface="Exo 2"/>
                <a:cs typeface="Exo 2"/>
                <a:sym typeface="Exo 2"/>
              </a:rPr>
              <a:t>Principale</a:t>
            </a:r>
            <a:r>
              <a:rPr lang="it" sz="1000">
                <a:latin typeface="Exo 2"/>
                <a:ea typeface="Exo 2"/>
                <a:cs typeface="Exo 2"/>
                <a:sym typeface="Exo 2"/>
              </a:rPr>
              <a:t> (Attiva)</a:t>
            </a:r>
            <a:endParaRPr sz="1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811102" y="6361966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 u="sng">
                <a:latin typeface="Exo 2"/>
                <a:ea typeface="Exo 2"/>
                <a:cs typeface="Exo 2"/>
                <a:sym typeface="Exo 2"/>
              </a:rPr>
              <a:t>Soggetto</a:t>
            </a:r>
            <a:endParaRPr b="1" sz="1000" u="sng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803115" y="6325233"/>
            <a:ext cx="1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 u="sng">
                <a:latin typeface="Exo 2"/>
                <a:ea typeface="Exo 2"/>
                <a:cs typeface="Exo 2"/>
                <a:sym typeface="Exo 2"/>
              </a:rPr>
              <a:t>Oggetto</a:t>
            </a:r>
            <a:r>
              <a:rPr lang="it" sz="1000">
                <a:latin typeface="Exo 2"/>
                <a:ea typeface="Exo 2"/>
                <a:cs typeface="Exo 2"/>
                <a:sym typeface="Exo 2"/>
              </a:rPr>
              <a:t>(Passivo)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8029" y="4872119"/>
            <a:ext cx="1844319" cy="51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5123354" y="5044511"/>
            <a:ext cx="126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000">
                <a:latin typeface="Exo 2"/>
                <a:ea typeface="Exo 2"/>
                <a:cs typeface="Exo 2"/>
                <a:sym typeface="Exo 2"/>
              </a:rPr>
              <a:t>Operazione di accesso</a:t>
            </a:r>
            <a:endParaRPr b="1" i="1" sz="10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732755" y="4960608"/>
            <a:ext cx="126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latin typeface="Exo 2"/>
                <a:ea typeface="Exo 2"/>
                <a:cs typeface="Exo 2"/>
                <a:sym typeface="Exo 2"/>
              </a:rPr>
              <a:t>Policy di controllo degli accessi</a:t>
            </a:r>
            <a:endParaRPr b="1" sz="1000"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Modelli di controllo degli accessi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più noti: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b="1" lang="it"/>
              <a:t>Discretionary Access Control (DAC)</a:t>
            </a:r>
            <a:r>
              <a:rPr lang="it"/>
              <a:t>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b="1" lang="it"/>
              <a:t>Mandatory Access Control (MAC)</a:t>
            </a:r>
            <a:r>
              <a:rPr lang="it"/>
              <a:t>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Role-Based Access Control (RBAC).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La principale differenza tra DAC e MAC è chi assegna i privilegi.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Discretionary Access Control (DAC)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536624"/>
            <a:ext cx="8520600" cy="49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</a:t>
            </a:r>
            <a:r>
              <a:rPr lang="it" u="sng"/>
              <a:t>proprietario </a:t>
            </a:r>
            <a:r>
              <a:rPr lang="it"/>
              <a:t>della risorsa decide a propria discrezione i privilegi di accesso.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Stefano crea un file e assegna a Federico il privilegio di leggerlo.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Tutti i sistemi operativi commerciali implementano il </a:t>
            </a:r>
            <a:r>
              <a:rPr b="1" lang="it"/>
              <a:t>DAC</a:t>
            </a:r>
            <a:r>
              <a:rPr lang="it"/>
              <a:t> (Discretionary Access Control):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Windows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Linux e altre varianti di UNIX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Mac OS X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Anche molte applicazioni e social network utilizzano prevalentemente il modello DAC!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 di sistemi DAC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UNIX</a:t>
            </a:r>
            <a:endParaRPr b="1"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Soggetti</a:t>
            </a:r>
            <a:r>
              <a:rPr lang="it"/>
              <a:t>: utenti, gruppi </a:t>
            </a:r>
            <a:endParaRPr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Oggetti</a:t>
            </a:r>
            <a:r>
              <a:rPr lang="it"/>
              <a:t>: file</a:t>
            </a:r>
            <a:endParaRPr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Azioni</a:t>
            </a:r>
            <a:r>
              <a:rPr lang="it"/>
              <a:t>: leggi (read), scrivi (write), esegui (execute)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Windows</a:t>
            </a:r>
            <a:endParaRPr b="1"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Soggetti</a:t>
            </a:r>
            <a:r>
              <a:rPr lang="it"/>
              <a:t>: con ruoli al posto del gruppo, proprietà multipla di utenti e ruoli sui file</a:t>
            </a:r>
            <a:endParaRPr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Oggetti</a:t>
            </a:r>
            <a:r>
              <a:rPr lang="it"/>
              <a:t>: file</a:t>
            </a:r>
            <a:endParaRPr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Azioni</a:t>
            </a:r>
            <a:r>
              <a:rPr lang="it"/>
              <a:t>: cancella, leggi, scrivi, esegue, cambia permessi, cambia proprietà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Percorsi nei sistemi UNIX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007723" y="1926285"/>
            <a:ext cx="5331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/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888" y="2482371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/>
          <p:nvPr/>
        </p:nvSpPr>
        <p:spPr>
          <a:xfrm>
            <a:off x="1576596" y="3060423"/>
            <a:ext cx="888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home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241" y="2482371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 txBox="1"/>
          <p:nvPr/>
        </p:nvSpPr>
        <p:spPr>
          <a:xfrm>
            <a:off x="3020232" y="3060423"/>
            <a:ext cx="13512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root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594" y="2482371"/>
            <a:ext cx="621358" cy="621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947" y="2482371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/>
        </p:nvSpPr>
        <p:spPr>
          <a:xfrm>
            <a:off x="6451459" y="3060439"/>
            <a:ext cx="888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mnt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8300" y="2482371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7976580" y="3060423"/>
            <a:ext cx="1077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etc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594" y="1257509"/>
            <a:ext cx="621358" cy="62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4598723" y="3060423"/>
            <a:ext cx="13512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opt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27" name="Google Shape;127;p20"/>
          <p:cNvCxnSpPr>
            <a:stCxn id="115" idx="2"/>
            <a:endCxn id="116" idx="0"/>
          </p:cNvCxnSpPr>
          <p:nvPr/>
        </p:nvCxnSpPr>
        <p:spPr>
          <a:xfrm rot="5400000">
            <a:off x="3529923" y="738135"/>
            <a:ext cx="224100" cy="3264600"/>
          </a:xfrm>
          <a:prstGeom prst="bentConnector3">
            <a:avLst>
              <a:gd fmla="val 50022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20"/>
          <p:cNvCxnSpPr>
            <a:stCxn id="115" idx="2"/>
            <a:endCxn id="118" idx="0"/>
          </p:cNvCxnSpPr>
          <p:nvPr/>
        </p:nvCxnSpPr>
        <p:spPr>
          <a:xfrm rot="5400000">
            <a:off x="4346073" y="1554285"/>
            <a:ext cx="224100" cy="1632300"/>
          </a:xfrm>
          <a:prstGeom prst="bentConnector3">
            <a:avLst>
              <a:gd fmla="val 50022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20"/>
          <p:cNvCxnSpPr>
            <a:stCxn id="115" idx="2"/>
            <a:endCxn id="120" idx="0"/>
          </p:cNvCxnSpPr>
          <p:nvPr/>
        </p:nvCxnSpPr>
        <p:spPr>
          <a:xfrm flipH="1" rot="-5400000">
            <a:off x="5162523" y="2370135"/>
            <a:ext cx="224100" cy="600"/>
          </a:xfrm>
          <a:prstGeom prst="bentConnector3">
            <a:avLst>
              <a:gd fmla="val 50022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0"/>
          <p:cNvCxnSpPr>
            <a:stCxn id="115" idx="2"/>
            <a:endCxn id="121" idx="0"/>
          </p:cNvCxnSpPr>
          <p:nvPr/>
        </p:nvCxnSpPr>
        <p:spPr>
          <a:xfrm flipH="1" rot="-5400000">
            <a:off x="5978373" y="1554285"/>
            <a:ext cx="224100" cy="1632300"/>
          </a:xfrm>
          <a:prstGeom prst="bentConnector3">
            <a:avLst>
              <a:gd fmla="val 50022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0"/>
          <p:cNvCxnSpPr>
            <a:stCxn id="115" idx="2"/>
            <a:endCxn id="123" idx="0"/>
          </p:cNvCxnSpPr>
          <p:nvPr/>
        </p:nvCxnSpPr>
        <p:spPr>
          <a:xfrm flipH="1" rot="-5400000">
            <a:off x="6794523" y="738135"/>
            <a:ext cx="224100" cy="3264600"/>
          </a:xfrm>
          <a:prstGeom prst="bentConnector3">
            <a:avLst>
              <a:gd fmla="val 50022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65" y="3807198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-28727" y="4385249"/>
            <a:ext cx="888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Lorenzo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175" y="3807198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1396166" y="4385249"/>
            <a:ext cx="12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Mario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198" y="3807198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3067189" y="4385249"/>
            <a:ext cx="12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Marcello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38" name="Google Shape;138;p20"/>
          <p:cNvCxnSpPr>
            <a:stCxn id="117" idx="2"/>
            <a:endCxn id="132" idx="0"/>
          </p:cNvCxnSpPr>
          <p:nvPr/>
        </p:nvCxnSpPr>
        <p:spPr>
          <a:xfrm rot="5400000">
            <a:off x="1005096" y="2791623"/>
            <a:ext cx="414600" cy="1616400"/>
          </a:xfrm>
          <a:prstGeom prst="bentConnector3">
            <a:avLst>
              <a:gd fmla="val 49976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0"/>
          <p:cNvCxnSpPr>
            <a:stCxn id="117" idx="2"/>
            <a:endCxn id="134" idx="0"/>
          </p:cNvCxnSpPr>
          <p:nvPr/>
        </p:nvCxnSpPr>
        <p:spPr>
          <a:xfrm rot="5400000">
            <a:off x="1811946" y="3598473"/>
            <a:ext cx="414600" cy="2700"/>
          </a:xfrm>
          <a:prstGeom prst="bentConnector3">
            <a:avLst>
              <a:gd fmla="val 49976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0"/>
          <p:cNvCxnSpPr>
            <a:stCxn id="117" idx="2"/>
            <a:endCxn id="136" idx="0"/>
          </p:cNvCxnSpPr>
          <p:nvPr/>
        </p:nvCxnSpPr>
        <p:spPr>
          <a:xfrm flipH="1" rot="-5400000">
            <a:off x="2647446" y="2765673"/>
            <a:ext cx="414600" cy="1668300"/>
          </a:xfrm>
          <a:prstGeom prst="bentConnector3">
            <a:avLst>
              <a:gd fmla="val 49976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0"/>
          <p:cNvSpPr txBox="1"/>
          <p:nvPr/>
        </p:nvSpPr>
        <p:spPr>
          <a:xfrm>
            <a:off x="7886809" y="4385249"/>
            <a:ext cx="12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passwd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42" name="Google Shape;142;p20"/>
          <p:cNvCxnSpPr>
            <a:stCxn id="124" idx="2"/>
            <a:endCxn id="143" idx="0"/>
          </p:cNvCxnSpPr>
          <p:nvPr/>
        </p:nvCxnSpPr>
        <p:spPr>
          <a:xfrm flipH="1" rot="-5400000">
            <a:off x="8344830" y="3562773"/>
            <a:ext cx="341100" cy="600"/>
          </a:xfrm>
          <a:prstGeom prst="bentConnector3">
            <a:avLst>
              <a:gd fmla="val 49981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4" name="Google Shape;14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12" y="4890300"/>
            <a:ext cx="621358" cy="62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80" y="4890300"/>
            <a:ext cx="621358" cy="62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20"/>
          <p:cNvCxnSpPr>
            <a:stCxn id="133" idx="2"/>
            <a:endCxn id="144" idx="0"/>
          </p:cNvCxnSpPr>
          <p:nvPr/>
        </p:nvCxnSpPr>
        <p:spPr>
          <a:xfrm flipH="1" rot="-5400000">
            <a:off x="329023" y="4803599"/>
            <a:ext cx="173100" cy="600"/>
          </a:xfrm>
          <a:prstGeom prst="bentConnector3">
            <a:avLst>
              <a:gd fmla="val 49990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>
            <a:stCxn id="135" idx="2"/>
            <a:endCxn id="145" idx="0"/>
          </p:cNvCxnSpPr>
          <p:nvPr/>
        </p:nvCxnSpPr>
        <p:spPr>
          <a:xfrm flipH="1" rot="-5400000">
            <a:off x="1938566" y="4803599"/>
            <a:ext cx="173100" cy="600"/>
          </a:xfrm>
          <a:prstGeom prst="bentConnector3">
            <a:avLst>
              <a:gd fmla="val 49990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0"/>
          <p:cNvSpPr txBox="1"/>
          <p:nvPr/>
        </p:nvSpPr>
        <p:spPr>
          <a:xfrm>
            <a:off x="-39875" y="5550757"/>
            <a:ext cx="888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file1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565448" y="5550757"/>
            <a:ext cx="8880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file2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4328" y="3733474"/>
            <a:ext cx="621358" cy="62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93565" y="5921761"/>
            <a:ext cx="8157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250" lIns="120250" spcFirstLastPara="1" rIns="120250" wrap="square" tIns="12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41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/home/Lorenzo/file1</a:t>
            </a:r>
            <a:endParaRPr sz="1841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93565" y="6211461"/>
            <a:ext cx="8157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250" lIns="120250" spcFirstLastPara="1" rIns="120250" wrap="square" tIns="12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41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/etc/passwd</a:t>
            </a:r>
            <a:endParaRPr sz="1841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4898" y="3720403"/>
            <a:ext cx="621358" cy="6213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0"/>
          <p:cNvCxnSpPr>
            <a:stCxn id="122" idx="2"/>
            <a:endCxn id="152" idx="0"/>
          </p:cNvCxnSpPr>
          <p:nvPr/>
        </p:nvCxnSpPr>
        <p:spPr>
          <a:xfrm flipH="1" rot="-5400000">
            <a:off x="6731809" y="3556189"/>
            <a:ext cx="327900" cy="600"/>
          </a:xfrm>
          <a:prstGeom prst="bentConnector3">
            <a:avLst>
              <a:gd fmla="val 49970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0"/>
          <p:cNvSpPr txBox="1"/>
          <p:nvPr/>
        </p:nvSpPr>
        <p:spPr>
          <a:xfrm>
            <a:off x="6278131" y="4385249"/>
            <a:ext cx="12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hdd2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046" y="4865688"/>
            <a:ext cx="621358" cy="62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6266984" y="5538475"/>
            <a:ext cx="12573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250" lIns="120250" spcFirstLastPara="1" rIns="120250" wrap="square" tIns="12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15">
                <a:latin typeface="Exo 2"/>
                <a:ea typeface="Exo 2"/>
                <a:cs typeface="Exo 2"/>
                <a:sym typeface="Exo 2"/>
              </a:rPr>
              <a:t>Photos</a:t>
            </a:r>
            <a:endParaRPr b="1" sz="1315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57" name="Google Shape;157;p20"/>
          <p:cNvCxnSpPr>
            <a:stCxn id="154" idx="2"/>
            <a:endCxn id="155" idx="0"/>
          </p:cNvCxnSpPr>
          <p:nvPr/>
        </p:nvCxnSpPr>
        <p:spPr>
          <a:xfrm flipH="1" rot="-5400000">
            <a:off x="6832981" y="4791149"/>
            <a:ext cx="148200" cy="600"/>
          </a:xfrm>
          <a:prstGeom prst="bentConnector3">
            <a:avLst>
              <a:gd fmla="val 49939" name="adj1"/>
            </a:avLst>
          </a:prstGeom>
          <a:noFill/>
          <a:ln cap="flat" cmpd="sng" w="12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Percorsi nei sistemi Windows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5022120" y="1982717"/>
            <a:ext cx="53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C: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986" y="2535995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1608311" y="3111129"/>
            <a:ext cx="883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Users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100" y="2535995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3044661" y="3111129"/>
            <a:ext cx="1344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Program Files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213" y="2535995"/>
            <a:ext cx="618223" cy="618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327" y="2535995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/>
        </p:nvSpPr>
        <p:spPr>
          <a:xfrm>
            <a:off x="6458567" y="3111129"/>
            <a:ext cx="951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Perfs Log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440" y="2535995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7975990" y="3111129"/>
            <a:ext cx="1071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Windows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213" y="1317317"/>
            <a:ext cx="618223" cy="61822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4615183" y="3111129"/>
            <a:ext cx="1344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Program Files (x86)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75" name="Google Shape;175;p21"/>
          <p:cNvCxnSpPr>
            <a:stCxn id="163" idx="2"/>
            <a:endCxn id="164" idx="0"/>
          </p:cNvCxnSpPr>
          <p:nvPr/>
        </p:nvCxnSpPr>
        <p:spPr>
          <a:xfrm rot="5400000">
            <a:off x="3551820" y="800417"/>
            <a:ext cx="222900" cy="3248100"/>
          </a:xfrm>
          <a:prstGeom prst="bentConnector3">
            <a:avLst>
              <a:gd fmla="val 50022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1"/>
          <p:cNvCxnSpPr>
            <a:stCxn id="163" idx="2"/>
            <a:endCxn id="166" idx="0"/>
          </p:cNvCxnSpPr>
          <p:nvPr/>
        </p:nvCxnSpPr>
        <p:spPr>
          <a:xfrm rot="5400000">
            <a:off x="4363770" y="1612367"/>
            <a:ext cx="222900" cy="1624200"/>
          </a:xfrm>
          <a:prstGeom prst="bentConnector3">
            <a:avLst>
              <a:gd fmla="val 50022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1"/>
          <p:cNvCxnSpPr>
            <a:stCxn id="163" idx="2"/>
            <a:endCxn id="168" idx="0"/>
          </p:cNvCxnSpPr>
          <p:nvPr/>
        </p:nvCxnSpPr>
        <p:spPr>
          <a:xfrm flipH="1" rot="-5400000">
            <a:off x="5176170" y="2424167"/>
            <a:ext cx="222900" cy="600"/>
          </a:xfrm>
          <a:prstGeom prst="bentConnector3">
            <a:avLst>
              <a:gd fmla="val 50022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1"/>
          <p:cNvCxnSpPr>
            <a:stCxn id="163" idx="2"/>
            <a:endCxn id="169" idx="0"/>
          </p:cNvCxnSpPr>
          <p:nvPr/>
        </p:nvCxnSpPr>
        <p:spPr>
          <a:xfrm flipH="1" rot="-5400000">
            <a:off x="5987970" y="1612367"/>
            <a:ext cx="222900" cy="1624200"/>
          </a:xfrm>
          <a:prstGeom prst="bentConnector3">
            <a:avLst>
              <a:gd fmla="val 50022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1"/>
          <p:cNvCxnSpPr>
            <a:stCxn id="163" idx="2"/>
            <a:endCxn id="171" idx="0"/>
          </p:cNvCxnSpPr>
          <p:nvPr/>
        </p:nvCxnSpPr>
        <p:spPr>
          <a:xfrm flipH="1" rot="-5400000">
            <a:off x="6799920" y="800417"/>
            <a:ext cx="222900" cy="3248100"/>
          </a:xfrm>
          <a:prstGeom prst="bentConnector3">
            <a:avLst>
              <a:gd fmla="val 50022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66" y="3854134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1091" y="4429267"/>
            <a:ext cx="883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Lorenzo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231" y="3854134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428792" y="4429267"/>
            <a:ext cx="1250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Mario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820" y="3854134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3091381" y="4429267"/>
            <a:ext cx="1250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Public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86" name="Google Shape;186;p21"/>
          <p:cNvCxnSpPr>
            <a:stCxn id="165" idx="2"/>
            <a:endCxn id="180" idx="0"/>
          </p:cNvCxnSpPr>
          <p:nvPr/>
        </p:nvCxnSpPr>
        <p:spPr>
          <a:xfrm rot="5400000">
            <a:off x="1039511" y="2843679"/>
            <a:ext cx="412800" cy="1608300"/>
          </a:xfrm>
          <a:prstGeom prst="bentConnector3">
            <a:avLst>
              <a:gd fmla="val 49976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1"/>
          <p:cNvCxnSpPr>
            <a:stCxn id="165" idx="2"/>
            <a:endCxn id="182" idx="0"/>
          </p:cNvCxnSpPr>
          <p:nvPr/>
        </p:nvCxnSpPr>
        <p:spPr>
          <a:xfrm rot="5400000">
            <a:off x="1842311" y="3646479"/>
            <a:ext cx="412800" cy="2700"/>
          </a:xfrm>
          <a:prstGeom prst="bentConnector3">
            <a:avLst>
              <a:gd fmla="val 49976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1"/>
          <p:cNvCxnSpPr>
            <a:stCxn id="165" idx="2"/>
            <a:endCxn id="184" idx="0"/>
          </p:cNvCxnSpPr>
          <p:nvPr/>
        </p:nvCxnSpPr>
        <p:spPr>
          <a:xfrm flipH="1" rot="-5400000">
            <a:off x="2673611" y="2817879"/>
            <a:ext cx="412800" cy="1659900"/>
          </a:xfrm>
          <a:prstGeom prst="bentConnector3">
            <a:avLst>
              <a:gd fmla="val 49976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590" y="3710571"/>
            <a:ext cx="618223" cy="618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893150" y="4285704"/>
            <a:ext cx="1250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System32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191" name="Google Shape;191;p21"/>
          <p:cNvCxnSpPr>
            <a:stCxn id="172" idx="2"/>
            <a:endCxn id="189" idx="0"/>
          </p:cNvCxnSpPr>
          <p:nvPr/>
        </p:nvCxnSpPr>
        <p:spPr>
          <a:xfrm flipH="1" rot="-5400000">
            <a:off x="8377390" y="3575679"/>
            <a:ext cx="269100" cy="600"/>
          </a:xfrm>
          <a:prstGeom prst="bentConnector3">
            <a:avLst>
              <a:gd fmla="val 49988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857" y="4931768"/>
            <a:ext cx="618223" cy="618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5101" y="4931768"/>
            <a:ext cx="618223" cy="618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1"/>
          <p:cNvCxnSpPr>
            <a:stCxn id="181" idx="2"/>
            <a:endCxn id="192" idx="0"/>
          </p:cNvCxnSpPr>
          <p:nvPr/>
        </p:nvCxnSpPr>
        <p:spPr>
          <a:xfrm flipH="1" rot="-5400000">
            <a:off x="367041" y="4845367"/>
            <a:ext cx="172200" cy="600"/>
          </a:xfrm>
          <a:prstGeom prst="bentConnector3">
            <a:avLst>
              <a:gd fmla="val 49990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1"/>
          <p:cNvCxnSpPr>
            <a:stCxn id="183" idx="2"/>
            <a:endCxn id="193" idx="0"/>
          </p:cNvCxnSpPr>
          <p:nvPr/>
        </p:nvCxnSpPr>
        <p:spPr>
          <a:xfrm flipH="1" rot="-5400000">
            <a:off x="1968342" y="4845367"/>
            <a:ext cx="172200" cy="600"/>
          </a:xfrm>
          <a:prstGeom prst="bentConnector3">
            <a:avLst>
              <a:gd fmla="val 49990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1"/>
          <p:cNvSpPr txBox="1"/>
          <p:nvPr/>
        </p:nvSpPr>
        <p:spPr>
          <a:xfrm>
            <a:off x="0" y="5588891"/>
            <a:ext cx="883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file1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597220" y="5588891"/>
            <a:ext cx="883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file2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460" y="4970800"/>
            <a:ext cx="618223" cy="61822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8093674" y="5588891"/>
            <a:ext cx="883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9650" lIns="119650" spcFirstLastPara="1" rIns="119650" wrap="square" tIns="119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8">
                <a:latin typeface="Exo 2"/>
                <a:ea typeface="Exo 2"/>
                <a:cs typeface="Exo 2"/>
                <a:sym typeface="Exo 2"/>
              </a:rPr>
              <a:t>cmd.exe</a:t>
            </a:r>
            <a:endParaRPr b="1" sz="1308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00" name="Google Shape;200;p21"/>
          <p:cNvCxnSpPr>
            <a:stCxn id="190" idx="2"/>
            <a:endCxn id="198" idx="0"/>
          </p:cNvCxnSpPr>
          <p:nvPr/>
        </p:nvCxnSpPr>
        <p:spPr>
          <a:xfrm flipH="1" rot="-5400000">
            <a:off x="8341350" y="4793154"/>
            <a:ext cx="354900" cy="600"/>
          </a:xfrm>
          <a:prstGeom prst="bentConnector3">
            <a:avLst>
              <a:gd fmla="val 50000" name="adj1"/>
            </a:avLst>
          </a:prstGeom>
          <a:noFill/>
          <a:ln cap="flat" cmpd="sng" w="1245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1"/>
          <p:cNvSpPr txBox="1"/>
          <p:nvPr/>
        </p:nvSpPr>
        <p:spPr>
          <a:xfrm>
            <a:off x="132766" y="5958021"/>
            <a:ext cx="81159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650" lIns="119650" spcFirstLastPara="1" rIns="119650" wrap="square" tIns="119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32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C:/Users/Lorenzo/file1</a:t>
            </a:r>
            <a:endParaRPr sz="1832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132766" y="6246259"/>
            <a:ext cx="81159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650" lIns="119650" spcFirstLastPara="1" rIns="119650" wrap="square" tIns="119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32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C:/Windows/System32/cmd.exe</a:t>
            </a:r>
            <a:endParaRPr sz="1832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Percorsi relativi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987391" y="1958183"/>
            <a:ext cx="527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/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023" y="2507638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1597190" y="3078796"/>
            <a:ext cx="87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home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906" y="2507638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3023607" y="3078796"/>
            <a:ext cx="1335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root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789" y="2507638"/>
            <a:ext cx="613948" cy="61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671" y="2507638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6413906" y="3078813"/>
            <a:ext cx="87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mnt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9554" y="2507638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920836" y="3078796"/>
            <a:ext cx="1064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etc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3789" y="1297381"/>
            <a:ext cx="613948" cy="61394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4583269" y="3078796"/>
            <a:ext cx="1335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opt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20" name="Google Shape;220;p22"/>
          <p:cNvCxnSpPr>
            <a:stCxn id="208" idx="2"/>
            <a:endCxn id="209" idx="0"/>
          </p:cNvCxnSpPr>
          <p:nvPr/>
        </p:nvCxnSpPr>
        <p:spPr>
          <a:xfrm rot="5400000">
            <a:off x="3527141" y="783983"/>
            <a:ext cx="221700" cy="3225900"/>
          </a:xfrm>
          <a:prstGeom prst="bentConnector3">
            <a:avLst>
              <a:gd fmla="val 50022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2"/>
          <p:cNvCxnSpPr>
            <a:stCxn id="208" idx="2"/>
            <a:endCxn id="211" idx="0"/>
          </p:cNvCxnSpPr>
          <p:nvPr/>
        </p:nvCxnSpPr>
        <p:spPr>
          <a:xfrm rot="5400000">
            <a:off x="4333541" y="1590383"/>
            <a:ext cx="221700" cy="1613100"/>
          </a:xfrm>
          <a:prstGeom prst="bentConnector3">
            <a:avLst>
              <a:gd fmla="val 50022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2"/>
          <p:cNvCxnSpPr>
            <a:stCxn id="208" idx="2"/>
            <a:endCxn id="213" idx="0"/>
          </p:cNvCxnSpPr>
          <p:nvPr/>
        </p:nvCxnSpPr>
        <p:spPr>
          <a:xfrm flipH="1" rot="-5400000">
            <a:off x="5140391" y="2396633"/>
            <a:ext cx="221700" cy="600"/>
          </a:xfrm>
          <a:prstGeom prst="bentConnector3">
            <a:avLst>
              <a:gd fmla="val 50022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2"/>
          <p:cNvCxnSpPr>
            <a:stCxn id="208" idx="2"/>
            <a:endCxn id="214" idx="0"/>
          </p:cNvCxnSpPr>
          <p:nvPr/>
        </p:nvCxnSpPr>
        <p:spPr>
          <a:xfrm flipH="1" rot="-5400000">
            <a:off x="5946491" y="1590533"/>
            <a:ext cx="221700" cy="1612800"/>
          </a:xfrm>
          <a:prstGeom prst="bentConnector3">
            <a:avLst>
              <a:gd fmla="val 50022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2"/>
          <p:cNvCxnSpPr>
            <a:stCxn id="208" idx="2"/>
            <a:endCxn id="216" idx="0"/>
          </p:cNvCxnSpPr>
          <p:nvPr/>
        </p:nvCxnSpPr>
        <p:spPr>
          <a:xfrm flipH="1" rot="-5400000">
            <a:off x="6752891" y="784133"/>
            <a:ext cx="221700" cy="3225600"/>
          </a:xfrm>
          <a:prstGeom prst="bentConnector3">
            <a:avLst>
              <a:gd fmla="val 50022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5" name="Google Shape;2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48" y="3816666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11015" y="4387825"/>
            <a:ext cx="87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Lorenzo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27" name="Google Shape;2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211" y="3816666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418912" y="4387825"/>
            <a:ext cx="124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Mario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303" y="3816666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3070004" y="4387825"/>
            <a:ext cx="124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Marcello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31" name="Google Shape;231;p22"/>
          <p:cNvCxnSpPr>
            <a:stCxn id="210" idx="2"/>
            <a:endCxn id="225" idx="0"/>
          </p:cNvCxnSpPr>
          <p:nvPr/>
        </p:nvCxnSpPr>
        <p:spPr>
          <a:xfrm rot="5400000">
            <a:off x="1032440" y="2813146"/>
            <a:ext cx="410100" cy="1597200"/>
          </a:xfrm>
          <a:prstGeom prst="bentConnector3">
            <a:avLst>
              <a:gd fmla="val 49976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2"/>
          <p:cNvCxnSpPr>
            <a:stCxn id="210" idx="2"/>
            <a:endCxn id="227" idx="0"/>
          </p:cNvCxnSpPr>
          <p:nvPr/>
        </p:nvCxnSpPr>
        <p:spPr>
          <a:xfrm rot="5400000">
            <a:off x="1829540" y="3610246"/>
            <a:ext cx="410100" cy="3000"/>
          </a:xfrm>
          <a:prstGeom prst="bentConnector3">
            <a:avLst>
              <a:gd fmla="val 49976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2"/>
          <p:cNvCxnSpPr>
            <a:stCxn id="210" idx="2"/>
            <a:endCxn id="229" idx="0"/>
          </p:cNvCxnSpPr>
          <p:nvPr/>
        </p:nvCxnSpPr>
        <p:spPr>
          <a:xfrm flipH="1" rot="-5400000">
            <a:off x="2655140" y="2787646"/>
            <a:ext cx="410100" cy="1648200"/>
          </a:xfrm>
          <a:prstGeom prst="bentConnector3">
            <a:avLst>
              <a:gd fmla="val 49976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2"/>
          <p:cNvSpPr txBox="1"/>
          <p:nvPr/>
        </p:nvSpPr>
        <p:spPr>
          <a:xfrm>
            <a:off x="7832135" y="4387825"/>
            <a:ext cx="124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passwd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35" name="Google Shape;235;p22"/>
          <p:cNvCxnSpPr>
            <a:stCxn id="217" idx="2"/>
            <a:endCxn id="236" idx="0"/>
          </p:cNvCxnSpPr>
          <p:nvPr/>
        </p:nvCxnSpPr>
        <p:spPr>
          <a:xfrm flipH="1" rot="-5400000">
            <a:off x="8284586" y="3574996"/>
            <a:ext cx="337200" cy="600"/>
          </a:xfrm>
          <a:prstGeom prst="bentConnector3">
            <a:avLst>
              <a:gd fmla="val 49981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7" name="Google Shape;2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63" y="4886854"/>
            <a:ext cx="613948" cy="613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3034" y="4886854"/>
            <a:ext cx="613948" cy="6139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" name="Google Shape;239;p22"/>
          <p:cNvCxnSpPr>
            <a:stCxn id="226" idx="2"/>
            <a:endCxn id="237" idx="0"/>
          </p:cNvCxnSpPr>
          <p:nvPr/>
        </p:nvCxnSpPr>
        <p:spPr>
          <a:xfrm flipH="1" rot="-5400000">
            <a:off x="364715" y="4800925"/>
            <a:ext cx="171000" cy="600"/>
          </a:xfrm>
          <a:prstGeom prst="bentConnector3">
            <a:avLst>
              <a:gd fmla="val 49990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2"/>
          <p:cNvCxnSpPr>
            <a:stCxn id="228" idx="2"/>
            <a:endCxn id="238" idx="0"/>
          </p:cNvCxnSpPr>
          <p:nvPr/>
        </p:nvCxnSpPr>
        <p:spPr>
          <a:xfrm flipH="1" rot="-5400000">
            <a:off x="1954712" y="4800925"/>
            <a:ext cx="171000" cy="600"/>
          </a:xfrm>
          <a:prstGeom prst="bentConnector3">
            <a:avLst>
              <a:gd fmla="val 49990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2"/>
          <p:cNvSpPr txBox="1"/>
          <p:nvPr/>
        </p:nvSpPr>
        <p:spPr>
          <a:xfrm>
            <a:off x="0" y="5539435"/>
            <a:ext cx="87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file1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586175" y="5539435"/>
            <a:ext cx="877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file2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5868" y="3743821"/>
            <a:ext cx="613948" cy="61394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131848" y="5906015"/>
            <a:ext cx="80601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19">
                <a:latin typeface="Source Code Pro"/>
                <a:ea typeface="Source Code Pro"/>
                <a:cs typeface="Source Code Pro"/>
                <a:sym typeface="Source Code Pro"/>
              </a:rPr>
              <a:t>Dalla cartella </a:t>
            </a:r>
            <a:r>
              <a:rPr b="1"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Mario</a:t>
            </a:r>
            <a:r>
              <a:rPr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 ../../etc/passwd		  (R</a:t>
            </a:r>
            <a:r>
              <a:rPr lang="it" sz="1819">
                <a:latin typeface="Source Code Pro"/>
                <a:ea typeface="Source Code Pro"/>
                <a:cs typeface="Source Code Pro"/>
                <a:sym typeface="Source Code Pro"/>
              </a:rPr>
              <a:t>elativo</a:t>
            </a:r>
            <a:r>
              <a:rPr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819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131848" y="6221275"/>
            <a:ext cx="80601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8850" lIns="118850" spcFirstLastPara="1" rIns="118850" wrap="square" tIns="118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19">
                <a:latin typeface="Source Code Pro"/>
                <a:ea typeface="Source Code Pro"/>
                <a:cs typeface="Source Code Pro"/>
                <a:sym typeface="Source Code Pro"/>
              </a:rPr>
              <a:t>Equivalente a</a:t>
            </a:r>
            <a:r>
              <a:rPr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 /etc/passwd 				   </a:t>
            </a:r>
            <a:r>
              <a:rPr lang="it" sz="1819"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it" sz="1819">
                <a:latin typeface="Source Code Pro"/>
                <a:ea typeface="Source Code Pro"/>
                <a:cs typeface="Source Code Pro"/>
                <a:sym typeface="Source Code Pro"/>
              </a:rPr>
              <a:t>Assoluto</a:t>
            </a:r>
            <a:r>
              <a:rPr lang="it" sz="1819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 sz="1819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45" name="Google Shape;2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754" y="3730906"/>
            <a:ext cx="613948" cy="6139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22"/>
          <p:cNvCxnSpPr>
            <a:stCxn id="215" idx="2"/>
            <a:endCxn id="245" idx="0"/>
          </p:cNvCxnSpPr>
          <p:nvPr/>
        </p:nvCxnSpPr>
        <p:spPr>
          <a:xfrm flipH="1" rot="-5400000">
            <a:off x="6690956" y="3568563"/>
            <a:ext cx="324300" cy="600"/>
          </a:xfrm>
          <a:prstGeom prst="bentConnector3">
            <a:avLst>
              <a:gd fmla="val 49970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2"/>
          <p:cNvSpPr txBox="1"/>
          <p:nvPr/>
        </p:nvSpPr>
        <p:spPr>
          <a:xfrm>
            <a:off x="6242646" y="4387825"/>
            <a:ext cx="124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hdd2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769" y="4862535"/>
            <a:ext cx="613948" cy="61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6231632" y="5527300"/>
            <a:ext cx="124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8850" lIns="118850" spcFirstLastPara="1" rIns="118850" wrap="square" tIns="11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99">
                <a:latin typeface="Exo 2"/>
                <a:ea typeface="Exo 2"/>
                <a:cs typeface="Exo 2"/>
                <a:sym typeface="Exo 2"/>
              </a:rPr>
              <a:t>Photos</a:t>
            </a:r>
            <a:endParaRPr b="1" sz="1299">
              <a:solidFill>
                <a:srgbClr val="0000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0" name="Google Shape;250;p22"/>
          <p:cNvCxnSpPr>
            <a:stCxn id="247" idx="2"/>
            <a:endCxn id="248" idx="0"/>
          </p:cNvCxnSpPr>
          <p:nvPr/>
        </p:nvCxnSpPr>
        <p:spPr>
          <a:xfrm flipH="1" rot="-5400000">
            <a:off x="6790596" y="4788775"/>
            <a:ext cx="146700" cy="600"/>
          </a:xfrm>
          <a:prstGeom prst="bentConnector3">
            <a:avLst>
              <a:gd fmla="val 49939" name="adj1"/>
            </a:avLst>
          </a:prstGeom>
          <a:noFill/>
          <a:ln cap="flat" cmpd="sng" w="123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Permessi nei sistemi UNIX</a:t>
            </a:r>
            <a:endParaRPr/>
          </a:p>
        </p:txBody>
      </p:sp>
      <p:pic>
        <p:nvPicPr>
          <p:cNvPr id="256" name="Google Shape;2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87" y="1655696"/>
            <a:ext cx="8314226" cy="354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Permessi nei sistemi Windows</a:t>
            </a:r>
            <a:endParaRPr/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1549" r="3986" t="0"/>
          <a:stretch/>
        </p:blipFill>
        <p:spPr>
          <a:xfrm>
            <a:off x="970225" y="1415450"/>
            <a:ext cx="7203550" cy="540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Modello generale di un sistema DAC</a:t>
            </a:r>
            <a:endParaRPr/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11700" y="1536628"/>
            <a:ext cx="8520600" cy="29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90525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●"/>
            </a:pPr>
            <a:r>
              <a:rPr lang="it"/>
              <a:t>Dobbiamo modellare le seguenti entità:</a:t>
            </a:r>
            <a:endParaRPr/>
          </a:p>
          <a:p>
            <a:pPr indent="-39052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○"/>
            </a:pPr>
            <a:r>
              <a:rPr b="1" lang="it"/>
              <a:t>Soggetti </a:t>
            </a:r>
            <a:r>
              <a:rPr lang="it"/>
              <a:t>che possono esercitare privilegi (o diritti).</a:t>
            </a:r>
            <a:endParaRPr/>
          </a:p>
          <a:p>
            <a:pPr indent="-39052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○"/>
            </a:pPr>
            <a:r>
              <a:rPr b="1" lang="it"/>
              <a:t>Oggetti </a:t>
            </a:r>
            <a:r>
              <a:rPr lang="it"/>
              <a:t>sui quali vengono esercitati i privilegi.</a:t>
            </a:r>
            <a:endParaRPr/>
          </a:p>
          <a:p>
            <a:pPr indent="-39052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○"/>
            </a:pPr>
            <a:r>
              <a:rPr b="1" lang="it"/>
              <a:t>Azioni </a:t>
            </a:r>
            <a:r>
              <a:rPr lang="it"/>
              <a:t>che possono essere esercitate.</a:t>
            </a:r>
            <a:endParaRPr/>
          </a:p>
          <a:p>
            <a:pPr indent="-390525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●"/>
            </a:pPr>
            <a:r>
              <a:rPr b="1" lang="it"/>
              <a:t>Stato di protezione</a:t>
            </a:r>
            <a:r>
              <a:rPr lang="it"/>
              <a:t>: una tripla (S, O, A)</a:t>
            </a:r>
            <a:endParaRPr/>
          </a:p>
          <a:p>
            <a:pPr indent="-39052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○"/>
            </a:pPr>
            <a:r>
              <a:rPr lang="it"/>
              <a:t>A: matrice con S righe e O colonne</a:t>
            </a:r>
            <a:endParaRPr/>
          </a:p>
          <a:p>
            <a:pPr indent="-39052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7142"/>
              <a:buChar char="○"/>
            </a:pPr>
            <a:r>
              <a:rPr lang="it"/>
              <a:t>A[s, o]: privilegi del soggetto </a:t>
            </a:r>
            <a:r>
              <a:rPr lang="it"/>
              <a:t>sull'oggetto</a:t>
            </a:r>
            <a:r>
              <a:rPr lang="it"/>
              <a:t> o</a:t>
            </a:r>
            <a:endParaRPr/>
          </a:p>
        </p:txBody>
      </p:sp>
      <p:graphicFrame>
        <p:nvGraphicFramePr>
          <p:cNvPr id="269" name="Google Shape;269;p25"/>
          <p:cNvGraphicFramePr/>
          <p:nvPr/>
        </p:nvGraphicFramePr>
        <p:xfrm>
          <a:off x="952500" y="466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{9DBD60A3-9D5A-41AA-A265-7E3304E76221}</a:tableStyleId>
              </a:tblPr>
              <a:tblGrid>
                <a:gridCol w="1321300"/>
                <a:gridCol w="1849650"/>
                <a:gridCol w="1979175"/>
                <a:gridCol w="20888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>
                          <a:latin typeface="Exo 2"/>
                          <a:ea typeface="Exo 2"/>
                          <a:cs typeface="Exo 2"/>
                          <a:sym typeface="Exo 2"/>
                        </a:rPr>
                        <a:t>Percorso file 1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>
                          <a:latin typeface="Exo 2"/>
                          <a:ea typeface="Exo 2"/>
                          <a:cs typeface="Exo 2"/>
                          <a:sym typeface="Exo 2"/>
                        </a:rPr>
                        <a:t>Percorso file 2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>
                          <a:latin typeface="Exo 2"/>
                          <a:ea typeface="Exo 2"/>
                          <a:cs typeface="Exo 2"/>
                          <a:sym typeface="Exo 2"/>
                        </a:rPr>
                        <a:t>Percorso directory 1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Alice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Read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Read, Write, </a:t>
                      </a:r>
                      <a:r>
                        <a:rPr lang="it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Execute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Bob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Read, Write, </a:t>
                      </a:r>
                      <a:r>
                        <a:rPr lang="it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Execute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Read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Read, Write, </a:t>
                      </a:r>
                      <a:r>
                        <a:rPr lang="it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Execute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Charlie</a:t>
                      </a:r>
                      <a:endParaRPr b="1"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solidFill>
                            <a:schemeClr val="dk1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Read, Write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t" sz="1400" u="none" cap="none" strike="noStrike">
                          <a:latin typeface="Exo 2"/>
                          <a:ea typeface="Exo 2"/>
                          <a:cs typeface="Exo 2"/>
                          <a:sym typeface="Exo 2"/>
                        </a:rPr>
                        <a:t>Read</a:t>
                      </a:r>
                      <a:endParaRPr sz="1400" u="none" cap="none" strike="noStrike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Concessione di privilegi</a:t>
            </a:r>
            <a:endParaRPr/>
          </a:p>
        </p:txBody>
      </p:sp>
      <p:pic>
        <p:nvPicPr>
          <p:cNvPr id="275" name="Google Shape;275;p26" title="Wxdy0z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0" y="3429017"/>
            <a:ext cx="289560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>
            <p:ph idx="1" type="body"/>
          </p:nvPr>
        </p:nvSpPr>
        <p:spPr>
          <a:xfrm>
            <a:off x="311700" y="1536630"/>
            <a:ext cx="85206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In alcuni casi, un utente può eseguire un file con i permessi del proprietario (occorre avere il permesso di esecuzione su “others”).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Mandatory Access Control (MAC)</a:t>
            </a:r>
            <a:endParaRPr/>
          </a:p>
        </p:txBody>
      </p:sp>
      <p:sp>
        <p:nvSpPr>
          <p:cNvPr id="282" name="Google Shape;282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Idea</a:t>
            </a:r>
            <a:r>
              <a:rPr lang="it"/>
              <a:t>: non lasciare la scelta dei privilegi agli utenti.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 privilegi sono impostati da un amministratore</a:t>
            </a:r>
            <a:r>
              <a:rPr lang="it"/>
              <a:t>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Ad esempio, definisce una classificazione dei soggetti (o “livelli di autorizzazione”) e degli oggetti (o “livelli di sensibilità”).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classificazione è composta da: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insieme strettamente ordinato di livelli di segretezza.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insieme di etichette.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Livelli di segretezza (US)</a:t>
            </a:r>
            <a:endParaRPr/>
          </a:p>
        </p:txBody>
      </p: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Top Secret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Secret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For Official Use Only (FOUO)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Unclassified</a:t>
            </a:r>
            <a:endParaRPr/>
          </a:p>
        </p:txBody>
      </p:sp>
      <p:sp>
        <p:nvSpPr>
          <p:cNvPr id="289" name="Google Shape;289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Livelli di segretezza</a:t>
            </a:r>
            <a:r>
              <a:rPr lang="it"/>
              <a:t> (NATO)</a:t>
            </a:r>
            <a:endParaRPr/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COSMIC Top Secret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NATO Secret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NATO Confidential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&gt;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Unclassified</a:t>
            </a:r>
            <a:endParaRPr/>
          </a:p>
        </p:txBody>
      </p:sp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"/>
              <a:t>Etichette (Labels)</a:t>
            </a:r>
            <a:endParaRPr/>
          </a:p>
        </p:txBody>
      </p:sp>
      <p:sp>
        <p:nvSpPr>
          <p:cNvPr id="302" name="Google Shape;302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Policy</a:t>
            </a:r>
            <a:endParaRPr/>
          </a:p>
          <a:p>
            <a:pPr indent="0" lvl="0" marL="0" rtl="0" algn="ctr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Energia</a:t>
            </a:r>
            <a:endParaRPr/>
          </a:p>
          <a:p>
            <a:pPr indent="0" lvl="0" marL="0" rtl="0" algn="ctr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Finanza</a:t>
            </a:r>
            <a:endParaRPr/>
          </a:p>
          <a:p>
            <a:pPr indent="0" lvl="0" marL="0" rtl="0" algn="ctr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Nucleare</a:t>
            </a:r>
            <a:endParaRPr/>
          </a:p>
          <a:p>
            <a:pPr indent="0" lvl="0" marL="0" rtl="0" algn="ctr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it"/>
              <a:t>others…</a:t>
            </a:r>
            <a:endParaRPr/>
          </a:p>
        </p:txBody>
      </p:sp>
      <p:sp>
        <p:nvSpPr>
          <p:cNvPr id="303" name="Google Shape;303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"/>
          <p:cNvSpPr txBox="1"/>
          <p:nvPr>
            <p:ph idx="1" type="body"/>
          </p:nvPr>
        </p:nvSpPr>
        <p:spPr>
          <a:xfrm>
            <a:off x="311700" y="1536629"/>
            <a:ext cx="85206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C</a:t>
            </a:r>
            <a:r>
              <a:rPr b="1" lang="it"/>
              <a:t>lassificazione</a:t>
            </a:r>
            <a:r>
              <a:rPr lang="it"/>
              <a:t> =  una relazione d’ordine parziale.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dominanza in un reticolo è definita come: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{</a:t>
            </a:r>
            <a:r>
              <a:rPr lang="it"/>
              <a:t>𝐶</a:t>
            </a:r>
            <a:r>
              <a:rPr baseline="-25000" lang="it"/>
              <a:t>1</a:t>
            </a:r>
            <a:r>
              <a:rPr lang="it"/>
              <a:t>,𝐿</a:t>
            </a:r>
            <a:r>
              <a:rPr baseline="-25000" lang="it"/>
              <a:t>1</a:t>
            </a:r>
            <a:r>
              <a:rPr lang="it"/>
              <a:t>} ≥ {𝐶</a:t>
            </a:r>
            <a:r>
              <a:rPr baseline="-25000" lang="it"/>
              <a:t>2</a:t>
            </a:r>
            <a:r>
              <a:rPr lang="it"/>
              <a:t>,𝐿</a:t>
            </a:r>
            <a:r>
              <a:rPr baseline="-25000" lang="it"/>
              <a:t>2</a:t>
            </a:r>
            <a:r>
              <a:rPr lang="it"/>
              <a:t>} ⟺ 𝐶</a:t>
            </a:r>
            <a:r>
              <a:rPr baseline="-25000" lang="it"/>
              <a:t>1</a:t>
            </a:r>
            <a:r>
              <a:rPr lang="it"/>
              <a:t> ≥ 𝐶</a:t>
            </a:r>
            <a:r>
              <a:rPr baseline="-25000" lang="it"/>
              <a:t>2</a:t>
            </a:r>
            <a:r>
              <a:rPr lang="it"/>
              <a:t> e 𝐿</a:t>
            </a:r>
            <a:r>
              <a:rPr baseline="-25000" lang="it"/>
              <a:t>2</a:t>
            </a:r>
            <a:r>
              <a:rPr lang="it"/>
              <a:t> ⊆ 𝐿</a:t>
            </a:r>
            <a:r>
              <a:rPr baseline="-25000" lang="it"/>
              <a:t>1</a:t>
            </a:r>
            <a:r>
              <a:rPr lang="it"/>
              <a:t> 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2672250" y="3618800"/>
            <a:ext cx="3799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(Top Secret, {nucleare, crittografia})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0" y="4469725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(Top Secret, {nucleare})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264000" y="4469725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(Top Secret, {crittografia})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3132000" y="4469725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(Secret, {nucleare, crittografia})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314" name="Google Shape;314;p31"/>
          <p:cNvCxnSpPr>
            <a:stCxn id="310" idx="2"/>
            <a:endCxn id="311" idx="0"/>
          </p:cNvCxnSpPr>
          <p:nvPr/>
        </p:nvCxnSpPr>
        <p:spPr>
          <a:xfrm flipH="1">
            <a:off x="1440000" y="4042100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1"/>
          <p:cNvCxnSpPr>
            <a:stCxn id="310" idx="2"/>
            <a:endCxn id="312" idx="0"/>
          </p:cNvCxnSpPr>
          <p:nvPr/>
        </p:nvCxnSpPr>
        <p:spPr>
          <a:xfrm>
            <a:off x="4572000" y="4042100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1"/>
          <p:cNvCxnSpPr>
            <a:stCxn id="310" idx="2"/>
            <a:endCxn id="313" idx="0"/>
          </p:cNvCxnSpPr>
          <p:nvPr/>
        </p:nvCxnSpPr>
        <p:spPr>
          <a:xfrm>
            <a:off x="4572000" y="4042100"/>
            <a:ext cx="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1"/>
          <p:cNvSpPr txBox="1"/>
          <p:nvPr/>
        </p:nvSpPr>
        <p:spPr>
          <a:xfrm>
            <a:off x="0" y="5320650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(Secret, {nucleare})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3132000" y="5320650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(Top Secret, {})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6264000" y="5320650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(Secret, {crittografia})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3132000" y="6171575"/>
            <a:ext cx="2880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(Secret, {})</a:t>
            </a:r>
            <a:endParaRPr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321" name="Google Shape;321;p31"/>
          <p:cNvCxnSpPr>
            <a:stCxn id="318" idx="0"/>
            <a:endCxn id="311" idx="2"/>
          </p:cNvCxnSpPr>
          <p:nvPr/>
        </p:nvCxnSpPr>
        <p:spPr>
          <a:xfrm rot="10800000">
            <a:off x="1440000" y="4893150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1"/>
          <p:cNvCxnSpPr>
            <a:stCxn id="312" idx="2"/>
            <a:endCxn id="318" idx="0"/>
          </p:cNvCxnSpPr>
          <p:nvPr/>
        </p:nvCxnSpPr>
        <p:spPr>
          <a:xfrm flipH="1">
            <a:off x="4572000" y="4893025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1"/>
          <p:cNvCxnSpPr>
            <a:stCxn id="313" idx="2"/>
            <a:endCxn id="317" idx="0"/>
          </p:cNvCxnSpPr>
          <p:nvPr/>
        </p:nvCxnSpPr>
        <p:spPr>
          <a:xfrm flipH="1">
            <a:off x="1440000" y="4893025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1"/>
          <p:cNvCxnSpPr>
            <a:stCxn id="319" idx="0"/>
            <a:endCxn id="313" idx="2"/>
          </p:cNvCxnSpPr>
          <p:nvPr/>
        </p:nvCxnSpPr>
        <p:spPr>
          <a:xfrm rot="10800000">
            <a:off x="4572000" y="4893150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1"/>
          <p:cNvCxnSpPr>
            <a:stCxn id="311" idx="2"/>
            <a:endCxn id="317" idx="0"/>
          </p:cNvCxnSpPr>
          <p:nvPr/>
        </p:nvCxnSpPr>
        <p:spPr>
          <a:xfrm>
            <a:off x="1440000" y="4893025"/>
            <a:ext cx="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1"/>
          <p:cNvCxnSpPr>
            <a:stCxn id="312" idx="2"/>
            <a:endCxn id="319" idx="0"/>
          </p:cNvCxnSpPr>
          <p:nvPr/>
        </p:nvCxnSpPr>
        <p:spPr>
          <a:xfrm>
            <a:off x="7704000" y="4893025"/>
            <a:ext cx="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>
            <a:stCxn id="319" idx="2"/>
            <a:endCxn id="320" idx="0"/>
          </p:cNvCxnSpPr>
          <p:nvPr/>
        </p:nvCxnSpPr>
        <p:spPr>
          <a:xfrm flipH="1">
            <a:off x="4572000" y="5743950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1"/>
          <p:cNvCxnSpPr>
            <a:stCxn id="318" idx="2"/>
            <a:endCxn id="320" idx="0"/>
          </p:cNvCxnSpPr>
          <p:nvPr/>
        </p:nvCxnSpPr>
        <p:spPr>
          <a:xfrm>
            <a:off x="4572000" y="5743950"/>
            <a:ext cx="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1"/>
          <p:cNvCxnSpPr>
            <a:stCxn id="320" idx="0"/>
            <a:endCxn id="317" idx="2"/>
          </p:cNvCxnSpPr>
          <p:nvPr/>
        </p:nvCxnSpPr>
        <p:spPr>
          <a:xfrm rot="10800000">
            <a:off x="1440000" y="5744075"/>
            <a:ext cx="3132000" cy="42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Conclusioni</a:t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11700" y="1536624"/>
            <a:ext cx="8520600" cy="5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Il </a:t>
            </a:r>
            <a:r>
              <a:rPr b="1" lang="it"/>
              <a:t>controllo degli accessi</a:t>
            </a:r>
            <a:r>
              <a:rPr lang="it"/>
              <a:t>, o autorizzazione, definisce i soggetti, gli oggetti e le azioni in un sistema.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 </a:t>
            </a:r>
            <a:r>
              <a:rPr b="1" lang="it"/>
              <a:t>modelli</a:t>
            </a:r>
            <a:r>
              <a:rPr lang="it"/>
              <a:t> di controllo degli accessi definiscono come le azioni vengono (o non vengono) assegnate ai soggetti e agli oggetti.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 </a:t>
            </a:r>
            <a:r>
              <a:rPr b="1" lang="it"/>
              <a:t>DAC (Discretionary Access Control)</a:t>
            </a:r>
            <a:r>
              <a:rPr lang="it"/>
              <a:t> sono più comuni e “naturali” dei </a:t>
            </a:r>
            <a:r>
              <a:rPr b="1" lang="it"/>
              <a:t>MAC (Mandatory Access Control),</a:t>
            </a:r>
            <a:r>
              <a:rPr lang="it"/>
              <a:t> ma possono coesistere.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