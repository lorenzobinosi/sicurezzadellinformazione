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9144000"/>
  <p:notesSz cx="6858000" cy="9144000"/>
  <p:embeddedFontLst>
    <p:embeddedFont>
      <p:font typeface="Source Code Pro"/>
      <p:regular r:id="rId39"/>
      <p:bold r:id="rId40"/>
      <p:italic r:id="rId41"/>
      <p:boldItalic r:id="rId42"/>
    </p:embeddedFont>
    <p:embeddedFont>
      <p:font typeface="Exo 2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bold.fntdata"/><Relationship Id="rId20" Type="http://schemas.openxmlformats.org/officeDocument/2006/relationships/slide" Target="slides/slide14.xml"/><Relationship Id="rId42" Type="http://schemas.openxmlformats.org/officeDocument/2006/relationships/font" Target="fonts/SourceCodePro-boldItalic.fntdata"/><Relationship Id="rId41" Type="http://schemas.openxmlformats.org/officeDocument/2006/relationships/font" Target="fonts/SourceCodePro-italic.fntdata"/><Relationship Id="rId22" Type="http://schemas.openxmlformats.org/officeDocument/2006/relationships/slide" Target="slides/slide16.xml"/><Relationship Id="rId44" Type="http://schemas.openxmlformats.org/officeDocument/2006/relationships/font" Target="fonts/Exo2-bold.fntdata"/><Relationship Id="rId21" Type="http://schemas.openxmlformats.org/officeDocument/2006/relationships/slide" Target="slides/slide15.xml"/><Relationship Id="rId43" Type="http://schemas.openxmlformats.org/officeDocument/2006/relationships/font" Target="fonts/Exo2-regular.fntdata"/><Relationship Id="rId24" Type="http://schemas.openxmlformats.org/officeDocument/2006/relationships/slide" Target="slides/slide18.xml"/><Relationship Id="rId46" Type="http://schemas.openxmlformats.org/officeDocument/2006/relationships/font" Target="fonts/Exo2-boldItalic.fntdata"/><Relationship Id="rId23" Type="http://schemas.openxmlformats.org/officeDocument/2006/relationships/slide" Target="slides/slide17.xml"/><Relationship Id="rId45" Type="http://schemas.openxmlformats.org/officeDocument/2006/relationships/font" Target="fonts/Exo2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SourceCodePr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bd18304f_1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4bd18304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9a8231d37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9a8231d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9a8231d37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9a8231d3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9a8231d37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9a8231d3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4bd18304f_1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4bd18304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9a8231d37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9a8231d3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9a8231d37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9a8231d3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6598c4e6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6598c4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9a8231d37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9a8231d3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9a8231d37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9a8231d3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9a8231d37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9a8231d3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9a8231d37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9a8231d3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9a8231d37_0_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9a8231d3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9a8231d37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9a8231d3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9a8231d37_0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9a8231d3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9a8231d37_0_1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9a8231d3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9a8231d37_0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9a8231d3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9a8231d37_0_1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9a8231d3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9a8231d37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9a8231d3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9a8231d37_0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9a8231d3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9a8231d37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99a8231d3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9a8231d37_0_1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9a8231d3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9a8231d37_0_2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9a8231d3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9a8231d37_0_2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9a8231d37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4bd18304f_1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4bd18304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4bd18304f_1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4bd18304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903bc1083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903bc10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4bd18304f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4bd1830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9a8231d37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9a8231d3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4bd18304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4bd183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903bc1083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903bc108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Exo 2"/>
              <a:buNone/>
              <a:defRPr b="1" sz="3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x64.halb.it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nvd.nist.gov/vuln/search/statistics?form_type=Basic&amp;results_type=statistics&amp;search_type=all&amp;hyperlink_types=US-CERT+Technical+Alerts%2CUS-CERT+Vulnerability+Notes%2COVAL+Queri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nvd.nist.gov/vuln/search/statistics?form_type=Basic&amp;results_type=statistics&amp;search_type=all&amp;hyperlink_types=US-CERT+Technical+Alerts%2CUS-CERT+Vulnerability+Notes%2COVAL+Querie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s://nvd.nist.gov/vuln/search/statistics?form_type=Basic&amp;results_type=statistics&amp;search_type=all&amp;hyperlink_types=US-CERT+Technical+Alerts%2CUS-CERT+Vulnerability+Notes%2COVAL+Querie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hyperlink" Target="https://nvd.nist.gov/vuln/search/statistics?form_type=Basic&amp;results_type=statistics&amp;search_type=all&amp;hyperlink_types=US-CERT+Technical+Alerts%2CUS-CERT+Vulnerability+Notes%2COVAL+Querie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s0ftpj.org/bfi/online/bfi10/BFi10-02.html" TargetMode="External"/><Relationship Id="rId4" Type="http://schemas.openxmlformats.org/officeDocument/2006/relationships/hyperlink" Target="http://marc.info/?l=vuln-dev&amp;m=95602682515862&amp;w=2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hyperlink" Target="https://nvd.nist.gov/vuln/search/statistics?form_type=Basic&amp;results_type=statistics&amp;search_type=all&amp;hyperlink_types=US-CERT+Technical+Alerts%2CUS-CERT+Vulnerability+Notes%2COVAL+Querie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hyperlink" Target="https://nvd.nist.gov/vuln/search/statistics?form_type=Basic&amp;results_type=statistics&amp;search_type=all&amp;hyperlink_types=US-CERT+Technical+Alerts%2CUS-CERT+Vulnerability+Notes%2COVAL+Querie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ve.mitre.org/" TargetMode="External"/><Relationship Id="rId4" Type="http://schemas.openxmlformats.org/officeDocument/2006/relationships/hyperlink" Target="https://cwe.mitre.org/" TargetMode="External"/><Relationship Id="rId10" Type="http://schemas.openxmlformats.org/officeDocument/2006/relationships/hyperlink" Target="https://www.exploit-db.com/" TargetMode="External"/><Relationship Id="rId9" Type="http://schemas.openxmlformats.org/officeDocument/2006/relationships/hyperlink" Target="https://vulndb.cyberriskanalytics.com/" TargetMode="External"/><Relationship Id="rId5" Type="http://schemas.openxmlformats.org/officeDocument/2006/relationships/hyperlink" Target="https://www.first.org/cvss/" TargetMode="External"/><Relationship Id="rId6" Type="http://schemas.openxmlformats.org/officeDocument/2006/relationships/hyperlink" Target="https://capec.mitre.org/" TargetMode="External"/><Relationship Id="rId7" Type="http://schemas.openxmlformats.org/officeDocument/2006/relationships/hyperlink" Target="https://nvd.nist.gov/" TargetMode="External"/><Relationship Id="rId8" Type="http://schemas.openxmlformats.org/officeDocument/2006/relationships/hyperlink" Target="https://attack.mitre.org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7</a:t>
            </a:r>
            <a:r>
              <a:rPr b="1" lang="it"/>
              <a:t>. </a:t>
            </a:r>
            <a:r>
              <a:rPr lang="it"/>
              <a:t>Sicurezza del Software</a:t>
            </a:r>
            <a:endParaRPr b="1"/>
          </a:p>
        </p:txBody>
      </p:sp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Sicurezza dell’Informazione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Von Neumann</a:t>
            </a:r>
            <a:endParaRPr/>
          </a:p>
        </p:txBody>
      </p:sp>
      <p:pic>
        <p:nvPicPr>
          <p:cNvPr id="85" name="Google Shape;85;p21" title="4.1-Von-Neumann-and-Harvard-architect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1342"/>
            <a:ext cx="8839200" cy="4957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Codice macchina (o assembly)</a:t>
            </a:r>
            <a:endParaRPr/>
          </a:p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1536626"/>
            <a:ext cx="8520600" cy="21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Codice che permette di programmare direttamente il processore.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Consente di utilizzare la memoria (RAM) e i registri per eseguire operazioni sui dati.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Ogni istruzione corrisponde a un’operazione semplice del processore (carica dalla memoria, somma, sottrai, ecc.).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p22"/>
          <p:cNvSpPr txBox="1"/>
          <p:nvPr/>
        </p:nvSpPr>
        <p:spPr>
          <a:xfrm>
            <a:off x="869450" y="3786025"/>
            <a:ext cx="3289500" cy="2193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rdi, rsi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sub rsi, rdx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rsi, [rdi]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[rax], rdx</a:t>
            </a:r>
            <a:endParaRPr sz="22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311700" y="5991007"/>
            <a:ext cx="85206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https://x64.halb.it/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Linguaggi di programmazione</a:t>
            </a:r>
            <a:endParaRPr/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1536622"/>
            <a:ext cx="8520600" cy="4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Scrivere codice macchina è scomodo: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E’ poco intuitivo.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E’ difficile da ottimizzare.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Il contesto è troppo ampio.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Abbiamo sviluppato linguaggi di programmazione per poter scrivere del codice in una maniera più “intuitiva”.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Da questo codice, anche chiamato sorgente, un </a:t>
            </a:r>
            <a:r>
              <a:rPr b="1" lang="it"/>
              <a:t>compilatore </a:t>
            </a:r>
            <a:r>
              <a:rPr lang="it"/>
              <a:t>(traduttore) traduce da linguaggio di programmazione a codice macchina.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Hello World</a:t>
            </a:r>
            <a:endParaRPr/>
          </a:p>
        </p:txBody>
      </p:sp>
      <p:sp>
        <p:nvSpPr>
          <p:cNvPr id="105" name="Google Shape;105;p24"/>
          <p:cNvSpPr txBox="1"/>
          <p:nvPr>
            <p:ph idx="1" type="body"/>
          </p:nvPr>
        </p:nvSpPr>
        <p:spPr>
          <a:xfrm>
            <a:off x="311700" y="1536609"/>
            <a:ext cx="8520600" cy="40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Primo programma in C. Il file si chiama main.c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main</a:t>
            </a:r>
            <a:r>
              <a:rPr lang="it"/>
              <a:t>() e </a:t>
            </a:r>
            <a:r>
              <a:rPr b="1" lang="it"/>
              <a:t>printf</a:t>
            </a:r>
            <a:r>
              <a:rPr lang="it"/>
              <a:t>() sono delle funzioni!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Si compila con:</a:t>
            </a:r>
            <a:endParaRPr/>
          </a:p>
        </p:txBody>
      </p:sp>
      <p:sp>
        <p:nvSpPr>
          <p:cNvPr id="106" name="Google Shape;106;p24"/>
          <p:cNvSpPr txBox="1"/>
          <p:nvPr/>
        </p:nvSpPr>
        <p:spPr>
          <a:xfrm>
            <a:off x="311700" y="2312575"/>
            <a:ext cx="4343400" cy="1714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world</a:t>
            </a: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!\n");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24"/>
          <p:cNvSpPr txBox="1"/>
          <p:nvPr/>
        </p:nvSpPr>
        <p:spPr>
          <a:xfrm>
            <a:off x="311700" y="5512327"/>
            <a:ext cx="8520600" cy="67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gcc main.c -o main</a:t>
            </a:r>
            <a:endParaRPr sz="22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Compilazione</a:t>
            </a:r>
            <a:endParaRPr/>
          </a:p>
        </p:txBody>
      </p:sp>
      <p:sp>
        <p:nvSpPr>
          <p:cNvPr id="113" name="Google Shape;113;p25"/>
          <p:cNvSpPr/>
          <p:nvPr/>
        </p:nvSpPr>
        <p:spPr>
          <a:xfrm>
            <a:off x="638717" y="2849599"/>
            <a:ext cx="2036400" cy="1424700"/>
          </a:xfrm>
          <a:prstGeom prst="rect">
            <a:avLst/>
          </a:prstGeom>
          <a:solidFill>
            <a:srgbClr val="9FC5E8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1857" rotWithShape="0" algn="bl" dir="5400000" dist="20619">
              <a:srgbClr val="000000">
                <a:alpha val="50000"/>
              </a:srgbClr>
            </a:outerShdw>
          </a:effectLst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int main() 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  int n = 10;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  return n + fun();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4" name="Google Shape;114;p25"/>
          <p:cNvSpPr/>
          <p:nvPr/>
        </p:nvSpPr>
        <p:spPr>
          <a:xfrm>
            <a:off x="3554849" y="2849599"/>
            <a:ext cx="2036400" cy="1424700"/>
          </a:xfrm>
          <a:prstGeom prst="rect">
            <a:avLst/>
          </a:prstGeom>
          <a:solidFill>
            <a:srgbClr val="9FC5E8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1857" rotWithShape="0" algn="bl" dir="5400000" dist="20619">
              <a:srgbClr val="000000">
                <a:alpha val="50000"/>
              </a:srgbClr>
            </a:outerShdw>
          </a:effectLst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push ebp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mov ebp, esp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mov ebx, 10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call fun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add eax, ebx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leave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ret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5" name="Google Shape;115;p25"/>
          <p:cNvSpPr/>
          <p:nvPr/>
        </p:nvSpPr>
        <p:spPr>
          <a:xfrm>
            <a:off x="6470980" y="2849599"/>
            <a:ext cx="2036400" cy="1424700"/>
          </a:xfrm>
          <a:prstGeom prst="rect">
            <a:avLst/>
          </a:prstGeom>
          <a:solidFill>
            <a:srgbClr val="9FC5E8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1857" rotWithShape="0" algn="bl" dir="5400000" dist="20619">
              <a:srgbClr val="000000">
                <a:alpha val="50000"/>
              </a:srgbClr>
            </a:outerShdw>
          </a:effectLst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55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89 E5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BB 0A 00 00 00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E8 FC FF FF FF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01 D8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C9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E3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6" name="Google Shape;116;p25"/>
          <p:cNvSpPr/>
          <p:nvPr/>
        </p:nvSpPr>
        <p:spPr>
          <a:xfrm>
            <a:off x="2090681" y="2540287"/>
            <a:ext cx="2036400" cy="309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3C47D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5035333" y="2540287"/>
            <a:ext cx="2036400" cy="309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3C47D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2504848" y="2130749"/>
            <a:ext cx="1207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975" lIns="98975" spcFirstLastPara="1" rIns="98975" wrap="square" tIns="98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15">
                <a:latin typeface="Exo 2"/>
                <a:ea typeface="Exo 2"/>
                <a:cs typeface="Exo 2"/>
                <a:sym typeface="Exo 2"/>
              </a:rPr>
              <a:t>Compiler</a:t>
            </a:r>
            <a:endParaRPr sz="1515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5449499" y="2107113"/>
            <a:ext cx="1207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975" lIns="98975" spcFirstLastPara="1" rIns="98975" wrap="square" tIns="98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15">
                <a:latin typeface="Exo 2"/>
                <a:ea typeface="Exo 2"/>
                <a:cs typeface="Exo 2"/>
                <a:sym typeface="Exo 2"/>
              </a:rPr>
              <a:t>Assembler</a:t>
            </a:r>
            <a:endParaRPr sz="1515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228204" y="2306931"/>
            <a:ext cx="8687700" cy="66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6D7A8">
              <a:alpha val="27870"/>
            </a:srgbClr>
          </a:solidFill>
          <a:ln cap="flat" cmpd="sng" w="103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15">
                <a:latin typeface="Exo 2"/>
                <a:ea typeface="Exo 2"/>
                <a:cs typeface="Exo 2"/>
                <a:sym typeface="Exo 2"/>
              </a:rPr>
              <a:t>Compilazione</a:t>
            </a:r>
            <a:endParaRPr sz="1515"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Programma vulnerabile: Buffer overflow</a:t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311700" y="1495200"/>
            <a:ext cx="8520600" cy="4864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admin = false;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username[16];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access_token[16];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printf(</a:t>
            </a: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"Access Token: ");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scanf(</a:t>
            </a: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"%s", access_token);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(strcmp("H1XSD4545", access_token) == 0)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admin = true;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printf("Username: ");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scanf("%s", username);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(admin == true)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printf("Welcome admin!\n");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else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printf("Sorry %s, access denied!\n", username);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nel software</a:t>
            </a:r>
            <a:endParaRPr/>
          </a:p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311700" y="1536625"/>
            <a:ext cx="8520600" cy="51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per le applicazioni web, anche nel software la mancata sanitizzazione dell’input crea problemi, ma esistono anche altre classi di vulnerabilità più importanti. In particolare: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Vulnerabilità spaziali:</a:t>
            </a:r>
            <a:br>
              <a:rPr lang="it"/>
            </a:br>
            <a:r>
              <a:rPr lang="it"/>
              <a:t>(legate all’accesso fuori dai limiti della memoria)</a:t>
            </a:r>
            <a:br>
              <a:rPr lang="it"/>
            </a:br>
            <a:r>
              <a:rPr lang="it"/>
              <a:t>→ es. buffer overflow, out-of-bounds write/read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Vulnerabilità temporali</a:t>
            </a:r>
            <a:br>
              <a:rPr lang="it"/>
            </a:br>
            <a:r>
              <a:rPr lang="it"/>
              <a:t>(legate all’uso scorretto della memoria nel tempo)</a:t>
            </a:r>
            <a:br>
              <a:rPr lang="it"/>
            </a:br>
            <a:r>
              <a:rPr lang="it"/>
              <a:t>→ es. use-after-free, double free, dangling pointers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Vulnerabilità di inizializzazione</a:t>
            </a:r>
            <a:br>
              <a:rPr lang="it"/>
            </a:br>
            <a:r>
              <a:rPr lang="it"/>
              <a:t>(uso di memoria non inizializzata)</a:t>
            </a:r>
            <a:br>
              <a:rPr lang="it"/>
            </a:br>
            <a:r>
              <a:rPr lang="it"/>
              <a:t>→ es. use of uninitialized variables, memory disclosure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Applicazioni e Sistema Operativo</a:t>
            </a:r>
            <a:endParaRPr/>
          </a:p>
        </p:txBody>
      </p:sp>
      <p:sp>
        <p:nvSpPr>
          <p:cNvPr id="138" name="Google Shape;138;p28"/>
          <p:cNvSpPr/>
          <p:nvPr/>
        </p:nvSpPr>
        <p:spPr>
          <a:xfrm>
            <a:off x="4386082" y="3372914"/>
            <a:ext cx="372000" cy="9960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39" name="Google Shape;139;p28"/>
          <p:cNvSpPr/>
          <p:nvPr/>
        </p:nvSpPr>
        <p:spPr>
          <a:xfrm>
            <a:off x="6018792" y="3395055"/>
            <a:ext cx="372000" cy="9741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40" name="Google Shape;140;p28"/>
          <p:cNvSpPr/>
          <p:nvPr/>
        </p:nvSpPr>
        <p:spPr>
          <a:xfrm>
            <a:off x="2753373" y="2118297"/>
            <a:ext cx="372000" cy="22509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41" name="Google Shape;141;p28"/>
          <p:cNvSpPr/>
          <p:nvPr/>
        </p:nvSpPr>
        <p:spPr>
          <a:xfrm>
            <a:off x="2446950" y="1397600"/>
            <a:ext cx="4250100" cy="643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81">
                <a:latin typeface="Exo 2"/>
                <a:ea typeface="Exo 2"/>
                <a:cs typeface="Exo 2"/>
                <a:sym typeface="Exo 2"/>
              </a:rPr>
              <a:t>Applicazioni</a:t>
            </a:r>
            <a:endParaRPr sz="18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3984238" y="2647345"/>
            <a:ext cx="2712600" cy="6432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81">
                <a:latin typeface="Exo 2"/>
                <a:ea typeface="Exo 2"/>
                <a:cs typeface="Exo 2"/>
                <a:sym typeface="Exo 2"/>
              </a:rPr>
              <a:t>Librerie</a:t>
            </a:r>
            <a:endParaRPr sz="18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2446950" y="4451674"/>
            <a:ext cx="4250100" cy="6432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81">
                <a:latin typeface="Exo 2"/>
                <a:ea typeface="Exo 2"/>
                <a:cs typeface="Exo 2"/>
                <a:sym typeface="Exo 2"/>
              </a:rPr>
              <a:t>Kernel</a:t>
            </a:r>
            <a:endParaRPr sz="18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2446950" y="5801947"/>
            <a:ext cx="1296300" cy="643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81">
                <a:latin typeface="Exo 2"/>
                <a:ea typeface="Exo 2"/>
                <a:cs typeface="Exo 2"/>
                <a:sym typeface="Exo 2"/>
              </a:rPr>
              <a:t>CPU</a:t>
            </a:r>
            <a:endParaRPr sz="18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3923827" y="5801947"/>
            <a:ext cx="1296300" cy="643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81">
                <a:latin typeface="Exo 2"/>
                <a:ea typeface="Exo 2"/>
                <a:cs typeface="Exo 2"/>
                <a:sym typeface="Exo 2"/>
              </a:rPr>
              <a:t>Memoria</a:t>
            </a:r>
            <a:endParaRPr sz="18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5400704" y="5789919"/>
            <a:ext cx="1296300" cy="643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81">
                <a:latin typeface="Exo 2"/>
                <a:ea typeface="Exo 2"/>
                <a:cs typeface="Exo 2"/>
                <a:sym typeface="Exo 2"/>
              </a:rPr>
              <a:t>Dispositivi</a:t>
            </a:r>
            <a:endParaRPr sz="15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4386082" y="5184668"/>
            <a:ext cx="372000" cy="527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48" name="Google Shape;148;p28"/>
          <p:cNvSpPr/>
          <p:nvPr/>
        </p:nvSpPr>
        <p:spPr>
          <a:xfrm>
            <a:off x="2753373" y="5184668"/>
            <a:ext cx="372000" cy="527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49" name="Google Shape;149;p28"/>
          <p:cNvSpPr/>
          <p:nvPr/>
        </p:nvSpPr>
        <p:spPr>
          <a:xfrm>
            <a:off x="2542304" y="3641097"/>
            <a:ext cx="4059300" cy="324000"/>
          </a:xfrm>
          <a:prstGeom prst="roundRect">
            <a:avLst>
              <a:gd fmla="val 16667" name="adj"/>
            </a:avLst>
          </a:prstGeom>
          <a:solidFill>
            <a:srgbClr val="8B8585">
              <a:alpha val="37340"/>
            </a:srgbClr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881">
                <a:latin typeface="Exo 2"/>
                <a:ea typeface="Exo 2"/>
                <a:cs typeface="Exo 2"/>
                <a:sym typeface="Exo 2"/>
              </a:rPr>
              <a:t>Syscalls</a:t>
            </a:r>
            <a:endParaRPr i="1" sz="1881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4386082" y="2080330"/>
            <a:ext cx="372000" cy="5274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51" name="Google Shape;151;p28"/>
          <p:cNvSpPr/>
          <p:nvPr/>
        </p:nvSpPr>
        <p:spPr>
          <a:xfrm>
            <a:off x="6018792" y="2080330"/>
            <a:ext cx="372000" cy="5274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  <p:sp>
        <p:nvSpPr>
          <p:cNvPr id="152" name="Google Shape;152;p28"/>
          <p:cNvSpPr/>
          <p:nvPr/>
        </p:nvSpPr>
        <p:spPr>
          <a:xfrm>
            <a:off x="6018792" y="5178654"/>
            <a:ext cx="372000" cy="5274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12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850" lIns="122850" spcFirstLastPara="1" rIns="122850" wrap="square" tIns="12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Buona ingegneria del software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536624"/>
            <a:ext cx="8520600" cy="48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Buona ingegneria del software</a:t>
            </a:r>
            <a:r>
              <a:rPr lang="it"/>
              <a:t>: soddisfare i requisiti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Requisiti funzionali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Il software deve fare ciò per cui è stato progettato.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Requisiti non funzionali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Usabilità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Sicurezza (safety)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Sicurezza informatica (security)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Creare applicazioni intrinsecamente sicure è una competenza fondamentale — ma spesso poco conosciuta — per un buon sviluppatore o ingegnere del software.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Creare software sicuro è difficile.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software ha vulnerabilità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software dovrebbe implementare le specifiche.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Una specifica non rispettata == </a:t>
            </a:r>
            <a:r>
              <a:rPr i="1" lang="it"/>
              <a:t>bug del software</a:t>
            </a:r>
            <a:endParaRPr i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Una specifica di sicurezza non rispettata == </a:t>
            </a:r>
            <a:r>
              <a:rPr i="1" lang="it"/>
              <a:t>vulnerabilità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Un modo per sfruttare una vulnerabilità per violare la CIA (Confidentiality, Integrity, Availability) si chiama exploit.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Vulnerabilità ≠ exploit.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Vita di una vulnerabilità Software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negli anni</a:t>
            </a:r>
            <a:endParaRPr/>
          </a:p>
        </p:txBody>
      </p:sp>
      <p:pic>
        <p:nvPicPr>
          <p:cNvPr id="175" name="Google Shape;1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25" y="1235816"/>
            <a:ext cx="7559526" cy="55004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 txBox="1"/>
          <p:nvPr/>
        </p:nvSpPr>
        <p:spPr>
          <a:xfrm rot="-5400000">
            <a:off x="6346975" y="3631025"/>
            <a:ext cx="4022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NIST' National Vulnerability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negli anni</a:t>
            </a:r>
            <a:endParaRPr/>
          </a:p>
        </p:txBody>
      </p:sp>
      <p:pic>
        <p:nvPicPr>
          <p:cNvPr id="182" name="Google Shape;1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25" y="1235816"/>
            <a:ext cx="7559526" cy="55004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3"/>
          <p:cNvSpPr txBox="1"/>
          <p:nvPr/>
        </p:nvSpPr>
        <p:spPr>
          <a:xfrm rot="-5400000">
            <a:off x="6346975" y="3631025"/>
            <a:ext cx="4022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NIST' National Vulnerability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33"/>
          <p:cNvCxnSpPr/>
          <p:nvPr/>
        </p:nvCxnSpPr>
        <p:spPr>
          <a:xfrm rot="10800000">
            <a:off x="3736250" y="16849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33"/>
          <p:cNvCxnSpPr/>
          <p:nvPr/>
        </p:nvCxnSpPr>
        <p:spPr>
          <a:xfrm rot="10800000">
            <a:off x="6854375" y="17447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33"/>
          <p:cNvCxnSpPr/>
          <p:nvPr/>
        </p:nvCxnSpPr>
        <p:spPr>
          <a:xfrm rot="10800000">
            <a:off x="1463075" y="1684927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negli anni</a:t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25" y="1235816"/>
            <a:ext cx="7559526" cy="550045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 rot="-5400000">
            <a:off x="6346975" y="3631025"/>
            <a:ext cx="4022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NIST' National Vulnerability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34"/>
          <p:cNvCxnSpPr/>
          <p:nvPr/>
        </p:nvCxnSpPr>
        <p:spPr>
          <a:xfrm rot="10800000">
            <a:off x="3736250" y="16849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34"/>
          <p:cNvCxnSpPr/>
          <p:nvPr/>
        </p:nvCxnSpPr>
        <p:spPr>
          <a:xfrm rot="10800000">
            <a:off x="6854375" y="17447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34"/>
          <p:cNvCxnSpPr/>
          <p:nvPr/>
        </p:nvCxnSpPr>
        <p:spPr>
          <a:xfrm rot="10800000">
            <a:off x="1463075" y="1684927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34"/>
          <p:cNvSpPr txBox="1"/>
          <p:nvPr/>
        </p:nvSpPr>
        <p:spPr>
          <a:xfrm rot="-5400000">
            <a:off x="407967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negli anni</a:t>
            </a:r>
            <a:endParaRPr/>
          </a:p>
        </p:txBody>
      </p:sp>
      <p:pic>
        <p:nvPicPr>
          <p:cNvPr id="203" name="Google Shape;2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25" y="1235816"/>
            <a:ext cx="7559526" cy="550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5"/>
          <p:cNvSpPr txBox="1"/>
          <p:nvPr/>
        </p:nvSpPr>
        <p:spPr>
          <a:xfrm rot="-5400000">
            <a:off x="6346975" y="3631025"/>
            <a:ext cx="4022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NIST' National Vulnerability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35"/>
          <p:cNvCxnSpPr/>
          <p:nvPr/>
        </p:nvCxnSpPr>
        <p:spPr>
          <a:xfrm rot="10800000">
            <a:off x="3736250" y="16849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35"/>
          <p:cNvCxnSpPr/>
          <p:nvPr/>
        </p:nvCxnSpPr>
        <p:spPr>
          <a:xfrm rot="10800000">
            <a:off x="6854375" y="17447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35"/>
          <p:cNvCxnSpPr/>
          <p:nvPr/>
        </p:nvCxnSpPr>
        <p:spPr>
          <a:xfrm rot="10800000">
            <a:off x="1463075" y="1684927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35"/>
          <p:cNvSpPr txBox="1"/>
          <p:nvPr/>
        </p:nvSpPr>
        <p:spPr>
          <a:xfrm rot="-5400000">
            <a:off x="407967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 rot="-5400000">
            <a:off x="2681146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(FULL) 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760"/>
              <a:t>I primi anni della divulgazione delle vulnerabilità</a:t>
            </a:r>
            <a:endParaRPr sz="2760"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</a:rPr>
              <a:t>Subject:</a:t>
            </a:r>
            <a:r>
              <a:rPr lang="it" sz="1800">
                <a:solidFill>
                  <a:schemeClr val="dk1"/>
                </a:solidFill>
              </a:rPr>
              <a:t>    Comments on the dvwssr.dll vulnerability threads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</a:rPr>
              <a:t>From:</a:t>
            </a:r>
            <a:r>
              <a:rPr lang="it" sz="1800">
                <a:solidFill>
                  <a:schemeClr val="dk1"/>
                </a:solidFill>
              </a:rPr>
              <a:t>       Iván Arce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it" sz="1800">
                <a:solidFill>
                  <a:schemeClr val="dk1"/>
                </a:solidFill>
              </a:rPr>
              <a:t>Date:</a:t>
            </a:r>
            <a:r>
              <a:rPr lang="it" sz="1800">
                <a:solidFill>
                  <a:schemeClr val="dk1"/>
                </a:solidFill>
              </a:rPr>
              <a:t>       </a:t>
            </a:r>
            <a:r>
              <a:rPr b="1" lang="it" sz="1800">
                <a:solidFill>
                  <a:schemeClr val="dk1"/>
                </a:solidFill>
              </a:rPr>
              <a:t>2000-04-18 </a:t>
            </a:r>
            <a:r>
              <a:rPr lang="it" sz="1800">
                <a:solidFill>
                  <a:schemeClr val="dk1"/>
                </a:solidFill>
              </a:rPr>
              <a:t>1:25:52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I do not intend to go further down the full disclosure vs. mediated release of information discussion here, however [Microsoft’s handler’s] post on NTBugtraq regarding CORE's work requires some clarifications on our side.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[...]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If someone yells 'FIRE' and that appears to be reasonable, I'd would be very careful in my methodology and editorial policies before yelling "NOT TRUE! NOT TRUE! EVERYTHING IS FINE!".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[...]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it" sz="1800">
                <a:solidFill>
                  <a:schemeClr val="dk1"/>
                </a:solidFill>
              </a:rPr>
              <a:t>Excuse me if I’m being rude, but </a:t>
            </a:r>
            <a:r>
              <a:rPr b="1" lang="it" sz="1800">
                <a:solidFill>
                  <a:schemeClr val="dk1"/>
                </a:solidFill>
              </a:rPr>
              <a:t>I’m shocked by the fact that our company is being questioned because we found a bug.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it" sz="14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http://www.s0ftpj.org/bfi/online/bfi10/BFi10-02.html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it" sz="1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http://marc.info/?l=vuln-dev&amp;m=95602682515862&amp;w=2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Ciclo di vita di una vulnerabilità</a:t>
            </a:r>
            <a:endParaRPr/>
          </a:p>
        </p:txBody>
      </p:sp>
      <p:pic>
        <p:nvPicPr>
          <p:cNvPr descr="Window-of-Exposure.jpg" id="221" name="Google Shape;2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24" y="1536450"/>
            <a:ext cx="8590150" cy="37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Black Hat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SCN4832.jpg" id="228" name="Google Shape;2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371600"/>
            <a:ext cx="5486403" cy="4114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SCN4827.jpg" id="229" name="Google Shape;22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743200"/>
            <a:ext cx="5486403" cy="411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negli anni</a:t>
            </a:r>
            <a:endParaRPr/>
          </a:p>
        </p:txBody>
      </p:sp>
      <p:pic>
        <p:nvPicPr>
          <p:cNvPr id="235" name="Google Shape;2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25" y="1235816"/>
            <a:ext cx="7559526" cy="550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9"/>
          <p:cNvSpPr txBox="1"/>
          <p:nvPr/>
        </p:nvSpPr>
        <p:spPr>
          <a:xfrm rot="-5400000">
            <a:off x="6346975" y="3631025"/>
            <a:ext cx="4022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NIST' National Vulnerability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39"/>
          <p:cNvCxnSpPr/>
          <p:nvPr/>
        </p:nvCxnSpPr>
        <p:spPr>
          <a:xfrm rot="10800000">
            <a:off x="3736250" y="16849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39"/>
          <p:cNvCxnSpPr/>
          <p:nvPr/>
        </p:nvCxnSpPr>
        <p:spPr>
          <a:xfrm rot="10800000">
            <a:off x="6854375" y="17447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39"/>
          <p:cNvCxnSpPr/>
          <p:nvPr/>
        </p:nvCxnSpPr>
        <p:spPr>
          <a:xfrm rot="10800000">
            <a:off x="1463075" y="1684927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39"/>
          <p:cNvSpPr txBox="1"/>
          <p:nvPr/>
        </p:nvSpPr>
        <p:spPr>
          <a:xfrm rot="-5400000">
            <a:off x="407967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9"/>
          <p:cNvSpPr txBox="1"/>
          <p:nvPr/>
        </p:nvSpPr>
        <p:spPr>
          <a:xfrm rot="-5400000">
            <a:off x="2681146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(FULL) 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Vulnerabilità negli anni</a:t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525" y="1235816"/>
            <a:ext cx="7559526" cy="550045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 txBox="1"/>
          <p:nvPr/>
        </p:nvSpPr>
        <p:spPr>
          <a:xfrm rot="-5400000">
            <a:off x="6346975" y="3631025"/>
            <a:ext cx="4022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Source: NIST' National Vulnerability 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40"/>
          <p:cNvCxnSpPr/>
          <p:nvPr/>
        </p:nvCxnSpPr>
        <p:spPr>
          <a:xfrm rot="10800000">
            <a:off x="3736250" y="16849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40"/>
          <p:cNvCxnSpPr/>
          <p:nvPr/>
        </p:nvCxnSpPr>
        <p:spPr>
          <a:xfrm rot="10800000">
            <a:off x="6854375" y="1744725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40"/>
          <p:cNvCxnSpPr/>
          <p:nvPr/>
        </p:nvCxnSpPr>
        <p:spPr>
          <a:xfrm rot="10800000">
            <a:off x="1463075" y="1684927"/>
            <a:ext cx="0" cy="4402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40"/>
          <p:cNvSpPr txBox="1"/>
          <p:nvPr/>
        </p:nvSpPr>
        <p:spPr>
          <a:xfrm rot="-5400000">
            <a:off x="407967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0"/>
          <p:cNvSpPr txBox="1"/>
          <p:nvPr/>
        </p:nvSpPr>
        <p:spPr>
          <a:xfrm rot="-5400000">
            <a:off x="2681146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(FULL) 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0"/>
          <p:cNvSpPr txBox="1"/>
          <p:nvPr/>
        </p:nvSpPr>
        <p:spPr>
          <a:xfrm rot="-5400000">
            <a:off x="5769361" y="2740025"/>
            <a:ext cx="2434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 DISCLOSURE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34573"/>
            <a:ext cx="9144000" cy="554126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1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black market degli exploit</a:t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egrugq31.png" id="267" name="Google Shape;2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7225" y="1403475"/>
            <a:ext cx="4567950" cy="546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Bug Bounties</a:t>
            </a:r>
            <a:endParaRPr/>
          </a:p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icrosoft-bluehat-prize-web-page-5202603.jpg" id="274" name="Google Shape;2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450" y="1415100"/>
            <a:ext cx="6417101" cy="54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Altri Bug Bounties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251986" cy="502224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4"/>
          <p:cNvSpPr/>
          <p:nvPr/>
        </p:nvSpPr>
        <p:spPr>
          <a:xfrm>
            <a:off x="368600" y="1852725"/>
            <a:ext cx="1649100" cy="649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4"/>
          <p:cNvSpPr/>
          <p:nvPr/>
        </p:nvSpPr>
        <p:spPr>
          <a:xfrm>
            <a:off x="2117300" y="4294375"/>
            <a:ext cx="11877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4"/>
          <p:cNvSpPr/>
          <p:nvPr/>
        </p:nvSpPr>
        <p:spPr>
          <a:xfrm>
            <a:off x="6906500" y="4396850"/>
            <a:ext cx="1187700" cy="39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4"/>
          <p:cNvSpPr/>
          <p:nvPr/>
        </p:nvSpPr>
        <p:spPr>
          <a:xfrm>
            <a:off x="5310100" y="3015200"/>
            <a:ext cx="1443300" cy="275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5" title="listi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88" y="0"/>
            <a:ext cx="858282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46" title="cap6_1-2024_imm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3147"/>
            <a:ext cx="9144003" cy="6451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Panoramica sulla Raccolta e Categorizzazione delle Vulnerabilità</a:t>
            </a:r>
            <a:endParaRPr/>
          </a:p>
        </p:txBody>
      </p:sp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311700" y="1716050"/>
            <a:ext cx="8520600" cy="48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900"/>
              <a:t>Come vengono raccolte le vulnerabilità:</a:t>
            </a:r>
            <a:endParaRPr b="1"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/>
              <a:t>Divulgazione pubblica.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/>
              <a:t>Programmi di Bug Bounty.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/>
              <a:t>Scansione automatizzata.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/>
              <a:t>Risposta agli incidenti.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900"/>
              <a:t>Categorizzazione delle vulnerabilità:</a:t>
            </a:r>
            <a:endParaRPr b="1"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it" sz="1900" u="sng">
                <a:solidFill>
                  <a:schemeClr val="hlink"/>
                </a:solidFill>
                <a:hlinkClick r:id="rId3"/>
              </a:rPr>
              <a:t>CVE (Common Vulnerabilities and Exposures)</a:t>
            </a:r>
            <a:r>
              <a:rPr b="1" lang="it" sz="1900"/>
              <a:t>:</a:t>
            </a:r>
            <a:r>
              <a:rPr lang="it" sz="1900"/>
              <a:t> Identificatore univoco e descrizione dettagliata.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it" sz="1900" u="sng">
                <a:solidFill>
                  <a:schemeClr val="hlink"/>
                </a:solidFill>
                <a:hlinkClick r:id="rId4"/>
              </a:rPr>
              <a:t>CWE (Common Weakness Enumeration)</a:t>
            </a:r>
            <a:r>
              <a:rPr b="1" lang="it" sz="1900"/>
              <a:t>:</a:t>
            </a:r>
            <a:r>
              <a:rPr lang="it" sz="1900"/>
              <a:t> Classifica le vulnerabilità. 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it" sz="1900" u="sng">
                <a:solidFill>
                  <a:schemeClr val="hlink"/>
                </a:solidFill>
                <a:hlinkClick r:id="rId5"/>
              </a:rPr>
              <a:t>CVSS (Common Vulnerability Scoring System)</a:t>
            </a:r>
            <a:r>
              <a:rPr b="1" lang="it" sz="1900"/>
              <a:t>:</a:t>
            </a:r>
            <a:r>
              <a:rPr lang="it" sz="1900"/>
              <a:t> Valuta la gravità in base a sfruttabilità e impatto.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</a:pPr>
            <a:r>
              <a:rPr b="1" lang="it" sz="1900" u="sng">
                <a:solidFill>
                  <a:schemeClr val="hlink"/>
                </a:solidFill>
                <a:hlinkClick r:id="rId6"/>
              </a:rPr>
              <a:t>CAPEC (Common Attack Pattern Enumeration and Classification)</a:t>
            </a:r>
            <a:r>
              <a:rPr b="1" lang="it" sz="1900"/>
              <a:t>:</a:t>
            </a:r>
            <a:r>
              <a:rPr lang="it" sz="1900"/>
              <a:t> Documenta i metodi di attacco comuni.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900"/>
              <a:t>Strumenti e piattaforme moderni:</a:t>
            </a:r>
            <a:endParaRPr b="1"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 u="sng">
                <a:solidFill>
                  <a:schemeClr val="hlink"/>
                </a:solidFill>
                <a:hlinkClick r:id="rId7"/>
              </a:rPr>
              <a:t>National Vulnerability Database (NVD)</a:t>
            </a:r>
            <a:endParaRPr sz="1900" u="sng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 u="sng">
                <a:solidFill>
                  <a:schemeClr val="hlink"/>
                </a:solidFill>
                <a:hlinkClick r:id="rId8"/>
              </a:rPr>
              <a:t>MITRE ATT&amp;CK Framework</a:t>
            </a:r>
            <a:endParaRPr sz="1900" u="sng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Exo 2"/>
              <a:buChar char="●"/>
            </a:pPr>
            <a:r>
              <a:rPr lang="it" sz="1900"/>
              <a:t>Database di vulnerabilità/exploit come </a:t>
            </a:r>
            <a:r>
              <a:rPr lang="it" sz="1900" u="sng">
                <a:solidFill>
                  <a:schemeClr val="hlink"/>
                </a:solidFill>
                <a:hlinkClick r:id="rId9"/>
              </a:rPr>
              <a:t> VulnDB</a:t>
            </a:r>
            <a:r>
              <a:rPr lang="it" sz="1900"/>
              <a:t>,</a:t>
            </a:r>
            <a:r>
              <a:rPr lang="it" sz="1900" u="sng">
                <a:solidFill>
                  <a:schemeClr val="hlink"/>
                </a:solidFill>
                <a:hlinkClick r:id="rId10"/>
              </a:rPr>
              <a:t> Exploit-DB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Exploitation Roadmap</a:t>
            </a:r>
            <a:endParaRPr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311700" y="1536624"/>
            <a:ext cx="8520600" cy="49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it"/>
              <a:t>Identificare le vulnerabilità: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it"/>
              <a:t>Leggere il codice sorgente/Reverse engineering.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it"/>
              <a:t>Fuzzing.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AutoNum type="alphaLcPeriod"/>
            </a:pPr>
            <a:r>
              <a:rPr lang="it"/>
              <a:t>Modelli di Machine Learning/Large Language Models (GPT).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it"/>
              <a:t>Capire le potenzialità delle vulnerabilità (alcune non sono sufficienti per l’exploitation).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it"/>
              <a:t>Identificare la sequenza di input esatti per ottenere il comportamento desiderato.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Reverse Engineering</a:t>
            </a:r>
            <a:endParaRPr/>
          </a:p>
        </p:txBody>
      </p:sp>
      <p:sp>
        <p:nvSpPr>
          <p:cNvPr id="313" name="Google Shape;313;p49"/>
          <p:cNvSpPr/>
          <p:nvPr/>
        </p:nvSpPr>
        <p:spPr>
          <a:xfrm>
            <a:off x="638717" y="2849599"/>
            <a:ext cx="2036400" cy="1424700"/>
          </a:xfrm>
          <a:prstGeom prst="rect">
            <a:avLst/>
          </a:prstGeom>
          <a:solidFill>
            <a:srgbClr val="9FC5E8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1857" rotWithShape="0" algn="bl" dir="5400000" dist="20619">
              <a:srgbClr val="000000">
                <a:alpha val="50000"/>
              </a:srgbClr>
            </a:outerShdw>
          </a:effectLst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int main() 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  int n = 10;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  return n + fun();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1"/>
              <a:buFont typeface="Arial"/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4" name="Google Shape;314;p49"/>
          <p:cNvSpPr/>
          <p:nvPr/>
        </p:nvSpPr>
        <p:spPr>
          <a:xfrm>
            <a:off x="3554849" y="2849599"/>
            <a:ext cx="2036400" cy="1424700"/>
          </a:xfrm>
          <a:prstGeom prst="rect">
            <a:avLst/>
          </a:prstGeom>
          <a:solidFill>
            <a:srgbClr val="9FC5E8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1857" rotWithShape="0" algn="bl" dir="5400000" dist="20619">
              <a:srgbClr val="000000">
                <a:alpha val="50000"/>
              </a:srgbClr>
            </a:outerShdw>
          </a:effectLst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push ebp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mov ebp, esp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mov ebx, 10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call fun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add eax, ebx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leave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ret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5" name="Google Shape;315;p49"/>
          <p:cNvSpPr/>
          <p:nvPr/>
        </p:nvSpPr>
        <p:spPr>
          <a:xfrm>
            <a:off x="6470980" y="2849599"/>
            <a:ext cx="2036400" cy="1424700"/>
          </a:xfrm>
          <a:prstGeom prst="rect">
            <a:avLst/>
          </a:prstGeom>
          <a:solidFill>
            <a:srgbClr val="9FC5E8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61857" rotWithShape="0" algn="bl" dir="5400000" dist="20619">
              <a:srgbClr val="000000">
                <a:alpha val="50000"/>
              </a:srgbClr>
            </a:outerShdw>
          </a:effectLst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55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89 E5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BB 0A 00 00 00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E8 FC FF FF FF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01 D8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C9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90">
                <a:latin typeface="Source Code Pro"/>
                <a:ea typeface="Source Code Pro"/>
                <a:cs typeface="Source Code Pro"/>
                <a:sym typeface="Source Code Pro"/>
              </a:rPr>
              <a:t>E3</a:t>
            </a:r>
            <a:endParaRPr b="1" sz="119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6" name="Google Shape;316;p49"/>
          <p:cNvSpPr/>
          <p:nvPr/>
        </p:nvSpPr>
        <p:spPr>
          <a:xfrm rot="10800000">
            <a:off x="2090532" y="4274564"/>
            <a:ext cx="2036400" cy="309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06666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9"/>
          <p:cNvSpPr/>
          <p:nvPr/>
        </p:nvSpPr>
        <p:spPr>
          <a:xfrm rot="10800000">
            <a:off x="5035184" y="4274564"/>
            <a:ext cx="2036400" cy="3093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06666"/>
          </a:solidFill>
          <a:ln cap="flat" cmpd="sng" w="103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9"/>
          <p:cNvSpPr txBox="1"/>
          <p:nvPr/>
        </p:nvSpPr>
        <p:spPr>
          <a:xfrm>
            <a:off x="5369621" y="4560079"/>
            <a:ext cx="14712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975" lIns="98975" spcFirstLastPara="1" rIns="98975" wrap="square" tIns="98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15">
                <a:latin typeface="Exo 2"/>
                <a:ea typeface="Exo 2"/>
                <a:cs typeface="Exo 2"/>
                <a:sym typeface="Exo 2"/>
              </a:rPr>
              <a:t>Disassembler</a:t>
            </a:r>
            <a:endParaRPr sz="1515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9" name="Google Shape;319;p49"/>
          <p:cNvSpPr txBox="1"/>
          <p:nvPr/>
        </p:nvSpPr>
        <p:spPr>
          <a:xfrm>
            <a:off x="2373178" y="4583729"/>
            <a:ext cx="14712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975" lIns="98975" spcFirstLastPara="1" rIns="98975" wrap="square" tIns="98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15">
                <a:latin typeface="Exo 2"/>
                <a:ea typeface="Exo 2"/>
                <a:cs typeface="Exo 2"/>
                <a:sym typeface="Exo 2"/>
              </a:rPr>
              <a:t>Decompiler</a:t>
            </a:r>
            <a:endParaRPr sz="1515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20" name="Google Shape;320;p49"/>
          <p:cNvSpPr/>
          <p:nvPr/>
        </p:nvSpPr>
        <p:spPr>
          <a:xfrm flipH="1">
            <a:off x="228096" y="4167561"/>
            <a:ext cx="8687700" cy="66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A9999">
              <a:alpha val="25140"/>
            </a:srgbClr>
          </a:solidFill>
          <a:ln cap="flat" cmpd="sng" w="103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75" lIns="98975" spcFirstLastPara="1" rIns="98975" wrap="square" tIns="989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15">
                <a:latin typeface="Exo 2"/>
                <a:ea typeface="Exo 2"/>
                <a:cs typeface="Exo 2"/>
                <a:sym typeface="Exo 2"/>
              </a:rPr>
              <a:t>Reverse Engineering</a:t>
            </a:r>
            <a:endParaRPr sz="1515"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Cyber Resilience Act (CRA) - 2024</a:t>
            </a:r>
            <a:endParaRPr/>
          </a:p>
        </p:txBody>
      </p:sp>
      <p:sp>
        <p:nvSpPr>
          <p:cNvPr id="326" name="Google Shape;326;p50"/>
          <p:cNvSpPr txBox="1"/>
          <p:nvPr>
            <p:ph idx="1" type="body"/>
          </p:nvPr>
        </p:nvSpPr>
        <p:spPr>
          <a:xfrm>
            <a:off x="311700" y="1536624"/>
            <a:ext cx="8520600" cy="50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oggi la legge europea più rilevante perché introduce, per la prima volta, il </a:t>
            </a:r>
            <a:r>
              <a:rPr b="1" lang="it"/>
              <a:t>riconoscimento formale della ricerca di vulnerabilità</a:t>
            </a:r>
            <a:r>
              <a:rPr lang="it"/>
              <a:t>. Prevede: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Riconoscimento esplicito della </a:t>
            </a:r>
            <a:r>
              <a:rPr b="1" lang="it"/>
              <a:t>vulnerability disclosure in buona fede</a:t>
            </a:r>
            <a:r>
              <a:rPr lang="it"/>
              <a:t>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Obbligo per i produttori di avere una </a:t>
            </a:r>
            <a:r>
              <a:rPr b="1" lang="it"/>
              <a:t>politica di divulgazione delle vulnerabilità (VCDP)</a:t>
            </a:r>
            <a:r>
              <a:rPr lang="it"/>
              <a:t>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Le aziende </a:t>
            </a:r>
            <a:r>
              <a:rPr b="1" lang="it"/>
              <a:t>non possono perseguire o ostacolare</a:t>
            </a:r>
            <a:r>
              <a:rPr lang="it"/>
              <a:t> chi: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analizza un prodotto,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rileva vulnerabilità,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le comunica responsabilmente al produttore.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Tuttavia: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Non è un vero safe harbor penale</a:t>
            </a:r>
            <a:r>
              <a:rPr lang="it"/>
              <a:t>: ogni stato UE mantiene le sue leggi penali.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Non protegge attività che comportano </a:t>
            </a:r>
            <a:r>
              <a:rPr b="1" lang="it"/>
              <a:t>accesso non autorizzato a sistemi altrui</a:t>
            </a:r>
            <a:r>
              <a:rPr lang="it"/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Conclusioni</a:t>
            </a:r>
            <a:endParaRPr/>
          </a:p>
        </p:txBody>
      </p:sp>
      <p:sp>
        <p:nvSpPr>
          <p:cNvPr id="332" name="Google Shape;332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sicurezza informatica n</a:t>
            </a:r>
            <a:r>
              <a:rPr b="1" lang="it"/>
              <a:t>on è un requisito funzionale</a:t>
            </a:r>
            <a:r>
              <a:rPr lang="it"/>
              <a:t> per molte realtà. Di conseguenza, il codice scritto non sarà mai sicuro.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u="sng"/>
              <a:t>Un software senza vulnerabilità non esiste.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Molte non sono state ancora identificate, molte verranno usate come 0-day, molte non verranno identificate.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